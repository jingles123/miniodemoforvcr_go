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71" r:id="rId9"/>
    <p:sldId id="261" r:id="rId11"/>
    <p:sldId id="264" r:id="rId12"/>
    <p:sldId id="265" r:id="rId13"/>
    <p:sldId id="268" r:id="rId14"/>
    <p:sldId id="262" r:id="rId15"/>
    <p:sldId id="263" r:id="rId16"/>
    <p:sldId id="266" r:id="rId17"/>
    <p:sldId id="270" r:id="rId18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720185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6306" y="1562610"/>
            <a:ext cx="7500529" cy="42190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833314" y="6016049"/>
            <a:ext cx="6666513" cy="492222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720185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104A93-9ED5-4505-B31E-14E70DD028A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78FE5-1F7D-44D0-B676-FE5A8FEABC83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0A898-3B25-4243-81AA-B2A72DB1C648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3F2803-EA86-4A8B-B849-57C1C71B5587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97647-E8B0-49CA-9BC6-11AEEDF30713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7B5DF0-B897-45AA-B270-AED69CF65976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4DB2CD-EA9A-4032-8391-06AAC2293642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9A431-3777-4F13-9E39-D6D7E9B62A4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B47CC5-01A0-4930-BB96-05A173C3B32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6BF6D3-A9BF-4C73-AF5A-B3B857DDC71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0DB8F5-E1ED-473A-963D-39F0ABB935B0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E1275C-F0EE-44EE-A4BC-1B0D62747256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104A93-9ED5-4505-B31E-14E70DD028A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78FE5-1F7D-44D0-B676-FE5A8FEABC83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0A898-3B25-4243-81AA-B2A72DB1C648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3F2803-EA86-4A8B-B849-57C1C71B5587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97647-E8B0-49CA-9BC6-11AEEDF30713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7B5DF0-B897-45AA-B270-AED69CF65976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4DB2CD-EA9A-4032-8391-06AAC2293642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9A431-3777-4F13-9E39-D6D7E9B62A4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B47CC5-01A0-4930-BB96-05A173C3B32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6BF6D3-A9BF-4C73-AF5A-B3B857DDC71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0DB8F5-E1ED-473A-963D-39F0ABB935B0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E1275C-F0EE-44EE-A4BC-1B0D62747256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zh-CN" sz="4400" b="0" strike="noStrike" spc="-1">
                <a:latin typeface="Arial"/>
              </a:rPr>
              <a:t>单击以编辑标题文本格式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点击以编辑提纲文本格式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第二提纲级别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第三提纲级别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第四提纲级别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第五提纲级别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第六提纲级别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第七提纲级别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&lt;日期/时间&gt;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&lt;页脚&gt;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4F8793DC-B457-4168-8E6E-95067BD099E4}" type="slidenum">
              <a:rPr lang="en-US" sz="1400" b="0" strike="noStrike" spc="-1">
                <a:latin typeface="Times New Roman"/>
              </a:rPr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zh-CN" sz="4400" b="0" strike="noStrike" spc="-1">
                <a:latin typeface="Arial"/>
              </a:rPr>
              <a:t>单击以编辑标题文本格式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点击以编辑提纲文本格式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第二提纲级别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第三提纲级别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第四提纲级别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第五提纲级别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第六提纲级别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第七提纲级别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&lt;日期/时间&gt;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&lt;页脚&gt;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4F8793DC-B457-4168-8E6E-95067BD099E4}" type="slidenum">
              <a:rPr lang="en-US" sz="1400" b="0" strike="noStrike" spc="-1">
                <a:latin typeface="Times New Roman"/>
              </a:rPr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D1B2A"/>
          </a:solidFill>
          <a:ln w="14400">
            <a:solidFill>
              <a:srgbClr val="0D1B2A"/>
            </a:solidFill>
            <a:round/>
          </a:ln>
        </p:spPr>
      </p:sp>
      <p:sp>
        <p:nvSpPr>
          <p:cNvPr id="44" name="矩形 43"/>
          <p:cNvSpPr/>
          <p:nvPr/>
        </p:nvSpPr>
        <p:spPr>
          <a:xfrm>
            <a:off x="0" y="0"/>
            <a:ext cx="252000" cy="685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45" name="矩形 44"/>
          <p:cNvSpPr/>
          <p:nvPr/>
        </p:nvSpPr>
        <p:spPr>
          <a:xfrm>
            <a:off x="792000" y="648000"/>
            <a:ext cx="2808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46" name="文本框 45"/>
          <p:cNvSpPr txBox="1"/>
          <p:nvPr/>
        </p:nvSpPr>
        <p:spPr>
          <a:xfrm>
            <a:off x="792000" y="648000"/>
            <a:ext cx="280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BASIC + GO DEMO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92000" y="1620000"/>
            <a:ext cx="5544000" cy="104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3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MinIO</a:t>
            </a:r>
            <a:endParaRPr lang="en-US" sz="3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92000" y="2808000"/>
            <a:ext cx="6624000" cy="97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34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入门与实践</a:t>
            </a:r>
            <a:endParaRPr lang="en-US" sz="34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28000" y="4176000"/>
            <a:ext cx="5760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700" b="0" strike="noStrike" spc="-1">
                <a:solidFill>
                  <a:srgbClr val="B8C4D4"/>
                </a:solidFill>
                <a:latin typeface="Noto Sans CJK SC" panose="020B0500000000000000" charset="-122"/>
              </a:rPr>
              <a:t>从对象、桶到 </a:t>
            </a:r>
            <a:r>
              <a:rPr lang="en-US" sz="1700" b="0" strike="noStrike" spc="-1">
                <a:solidFill>
                  <a:srgbClr val="B8C4D4"/>
                </a:solidFill>
                <a:latin typeface="Noto Sans CJK SC" panose="020B0500000000000000" charset="-122"/>
              </a:rPr>
              <a:t>S3 API</a:t>
            </a:r>
            <a:endParaRPr lang="en-US" sz="1700" b="0" strike="noStrike" spc="-1">
              <a:solidFill>
                <a:srgbClr val="B8C4D4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28000" y="4932000"/>
            <a:ext cx="792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基础知识 </a:t>
            </a:r>
            <a:r>
              <a:rPr lang="en-US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· Go </a:t>
            </a:r>
            <a:r>
              <a:rPr lang="zh-CN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客户端</a:t>
            </a:r>
            <a:r>
              <a:rPr lang="en-US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/</a:t>
            </a:r>
            <a:r>
              <a:rPr lang="zh-CN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服务端 </a:t>
            </a:r>
            <a:r>
              <a:rPr lang="en-US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· </a:t>
            </a:r>
            <a:r>
              <a:rPr lang="zh-CN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预签名 </a:t>
            </a:r>
            <a:r>
              <a:rPr lang="en-US" sz="1200" b="0" strike="noStrike" spc="-1">
                <a:solidFill>
                  <a:srgbClr val="D7DEE8"/>
                </a:solidFill>
                <a:latin typeface="Noto Sans CJK SC" panose="020B0500000000000000" charset="-122"/>
              </a:rPr>
              <a:t>URL</a:t>
            </a:r>
            <a:endParaRPr lang="en-US" sz="1200" b="0" strike="noStrike" spc="-1">
              <a:solidFill>
                <a:srgbClr val="D7DEE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28000" y="6048000"/>
            <a:ext cx="4680000" cy="2239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0" strike="noStrike" spc="-1">
                <a:solidFill>
                  <a:srgbClr val="8FA0B4"/>
                </a:solidFill>
                <a:latin typeface="Noto Sans CJK SC" panose="020B0500000000000000" charset="-122"/>
              </a:rPr>
              <a:t>JLM  /  2026.09</a:t>
            </a:r>
            <a:endParaRPr lang="en-US" sz="900" b="0" strike="noStrike" spc="-1">
              <a:solidFill>
                <a:srgbClr val="8FA0B4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352000" y="1512000"/>
            <a:ext cx="972000" cy="756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53" name="文本框 52"/>
          <p:cNvSpPr txBox="1"/>
          <p:nvPr/>
        </p:nvSpPr>
        <p:spPr>
          <a:xfrm>
            <a:off x="8352000" y="1512000"/>
            <a:ext cx="972000" cy="72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01</a:t>
            </a:r>
            <a:endParaRPr lang="en-US" sz="10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720000" y="1008000"/>
            <a:ext cx="972000" cy="756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55" name="文本框 54"/>
          <p:cNvSpPr txBox="1"/>
          <p:nvPr/>
        </p:nvSpPr>
        <p:spPr>
          <a:xfrm>
            <a:off x="9720000" y="1008000"/>
            <a:ext cx="972000" cy="72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A7</a:t>
            </a:r>
            <a:endParaRPr lang="en-US" sz="10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0188000" y="2412000"/>
            <a:ext cx="972000" cy="756000"/>
          </a:xfrm>
          <a:prstGeom prst="rect">
            <a:avLst/>
          </a:prstGeom>
          <a:solidFill>
            <a:srgbClr val="F4C95D"/>
          </a:solidFill>
          <a:ln w="0">
            <a:noFill/>
          </a:ln>
        </p:spPr>
      </p:sp>
      <p:sp>
        <p:nvSpPr>
          <p:cNvPr id="57" name="文本框 56"/>
          <p:cNvSpPr txBox="1"/>
          <p:nvPr/>
        </p:nvSpPr>
        <p:spPr>
          <a:xfrm>
            <a:off x="10188000" y="2412000"/>
            <a:ext cx="972000" cy="72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0D1B2A"/>
                </a:solidFill>
                <a:latin typeface="Noto Sans Mono CJK SC" panose="020B0500000000000000" charset="-122"/>
              </a:rPr>
              <a:t>B2</a:t>
            </a:r>
            <a:endParaRPr lang="en-US" sz="1000" b="1" strike="noStrike" spc="-1">
              <a:solidFill>
                <a:srgbClr val="0D1B2A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640000" y="3132000"/>
            <a:ext cx="972000" cy="75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9" name="文本框 58"/>
          <p:cNvSpPr txBox="1"/>
          <p:nvPr/>
        </p:nvSpPr>
        <p:spPr>
          <a:xfrm>
            <a:off x="8640000" y="3132000"/>
            <a:ext cx="972000" cy="72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0D1B2A"/>
                </a:solidFill>
                <a:latin typeface="Noto Sans Mono CJK SC" panose="020B0500000000000000" charset="-122"/>
              </a:rPr>
              <a:t>F9</a:t>
            </a:r>
            <a:endParaRPr lang="en-US" sz="1000" b="1" strike="noStrike" spc="-1">
              <a:solidFill>
                <a:srgbClr val="0D1B2A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008000" y="3924000"/>
            <a:ext cx="972000" cy="756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61" name="文本框 60"/>
          <p:cNvSpPr txBox="1"/>
          <p:nvPr/>
        </p:nvSpPr>
        <p:spPr>
          <a:xfrm>
            <a:off x="10008000" y="3924000"/>
            <a:ext cx="972000" cy="72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3C</a:t>
            </a:r>
            <a:endParaRPr lang="en-US" sz="10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920000" y="4392000"/>
            <a:ext cx="972000" cy="756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63" name="文本框 62"/>
          <p:cNvSpPr txBox="1"/>
          <p:nvPr/>
        </p:nvSpPr>
        <p:spPr>
          <a:xfrm>
            <a:off x="7920000" y="4392000"/>
            <a:ext cx="972000" cy="72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D4</a:t>
            </a:r>
            <a:endParaRPr lang="en-US" sz="10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64" name="直接连接符 63"/>
          <p:cNvSpPr/>
          <p:nvPr/>
        </p:nvSpPr>
        <p:spPr>
          <a:xfrm>
            <a:off x="8820000" y="2268000"/>
            <a:ext cx="1368000" cy="144000"/>
          </a:xfrm>
          <a:prstGeom prst="line">
            <a:avLst/>
          </a:prstGeom>
          <a:ln w="18000">
            <a:solidFill>
              <a:srgbClr val="62758C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5" name="直接连接符 64"/>
          <p:cNvSpPr/>
          <p:nvPr/>
        </p:nvSpPr>
        <p:spPr>
          <a:xfrm flipH="1">
            <a:off x="9324000" y="1764000"/>
            <a:ext cx="864000" cy="1368000"/>
          </a:xfrm>
          <a:prstGeom prst="line">
            <a:avLst/>
          </a:prstGeom>
          <a:ln w="18000">
            <a:solidFill>
              <a:srgbClr val="62758C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6" name="直接连接符 65"/>
          <p:cNvSpPr/>
          <p:nvPr/>
        </p:nvSpPr>
        <p:spPr>
          <a:xfrm>
            <a:off x="9108000" y="3888000"/>
            <a:ext cx="900000" cy="396000"/>
          </a:xfrm>
          <a:prstGeom prst="line">
            <a:avLst/>
          </a:prstGeom>
          <a:ln w="18000">
            <a:solidFill>
              <a:srgbClr val="62758C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7" name="文本框 66"/>
          <p:cNvSpPr txBox="1"/>
          <p:nvPr/>
        </p:nvSpPr>
        <p:spPr>
          <a:xfrm>
            <a:off x="7848000" y="5436000"/>
            <a:ext cx="370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1" strike="noStrike" spc="-1">
                <a:solidFill>
                  <a:srgbClr val="8FA0B4"/>
                </a:solidFill>
                <a:latin typeface="Noto Sans Mono CJK SC" panose="020B0500000000000000" charset="-122"/>
              </a:rPr>
              <a:t>BUCKET  /  KEY  /  OBJECT</a:t>
            </a:r>
            <a:endParaRPr lang="en-US" sz="900" b="1" strike="noStrike" spc="-1">
              <a:solidFill>
                <a:srgbClr val="8FA0B4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576000" y="288000"/>
            <a:ext cx="5400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PRESENTATION / OVERVIEW</a:t>
            </a:r>
            <a:endParaRPr lang="en-US" sz="900" b="1" strike="noStrike" spc="-1">
              <a:solidFill>
                <a:srgbClr val="C72C4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内容概览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1" name="直接连接符 70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" name="文本框 71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02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76000" y="2052000"/>
            <a:ext cx="3312000" cy="3384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74" name="文本框 73"/>
          <p:cNvSpPr txBox="1"/>
          <p:nvPr/>
        </p:nvSpPr>
        <p:spPr>
          <a:xfrm>
            <a:off x="792000" y="2268000"/>
            <a:ext cx="864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800" b="1" strike="noStrike" spc="-1">
                <a:solidFill>
                  <a:srgbClr val="C72C48"/>
                </a:solidFill>
                <a:latin typeface="Noto Sans Mono CJK SC" panose="020B0500000000000000" charset="-122"/>
              </a:rPr>
              <a:t>01</a:t>
            </a:r>
            <a:endParaRPr lang="en-US" sz="1800" b="1" strike="noStrike" spc="-1">
              <a:solidFill>
                <a:srgbClr val="C72C48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28000" y="3168000"/>
            <a:ext cx="2808000" cy="57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基础概念</a:t>
            </a:r>
            <a:endParaRPr lang="en-US" sz="2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6" name="直接连接符 75"/>
          <p:cNvSpPr/>
          <p:nvPr/>
        </p:nvSpPr>
        <p:spPr>
          <a:xfrm>
            <a:off x="828000" y="3960000"/>
            <a:ext cx="864000" cy="0"/>
          </a:xfrm>
          <a:prstGeom prst="line">
            <a:avLst/>
          </a:prstGeom>
          <a:ln w="57600">
            <a:solidFill>
              <a:srgbClr val="C72C4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7" name="文本框 76"/>
          <p:cNvSpPr txBox="1"/>
          <p:nvPr/>
        </p:nvSpPr>
        <p:spPr>
          <a:xfrm>
            <a:off x="828000" y="4248000"/>
            <a:ext cx="2808000" cy="93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对象存储与文件系统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en-US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定位与核心数据模型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284000" y="2052000"/>
            <a:ext cx="3312000" cy="3384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79" name="文本框 78"/>
          <p:cNvSpPr txBox="1"/>
          <p:nvPr/>
        </p:nvSpPr>
        <p:spPr>
          <a:xfrm>
            <a:off x="4500000" y="2268000"/>
            <a:ext cx="864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8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02</a:t>
            </a:r>
            <a:endParaRPr lang="en-US" sz="18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536000" y="3168000"/>
            <a:ext cx="2808000" cy="57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2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Go </a:t>
            </a:r>
            <a:r>
              <a:rPr lang="zh-CN" sz="2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接入实践</a:t>
            </a:r>
            <a:endParaRPr lang="en-US" sz="2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1" name="直接连接符 80"/>
          <p:cNvSpPr/>
          <p:nvPr/>
        </p:nvSpPr>
        <p:spPr>
          <a:xfrm>
            <a:off x="4536000" y="3960000"/>
            <a:ext cx="864000" cy="0"/>
          </a:xfrm>
          <a:prstGeom prst="line">
            <a:avLst/>
          </a:prstGeom>
          <a:ln w="57600">
            <a:solidFill>
              <a:srgbClr val="07879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2" name="文本框 81"/>
          <p:cNvSpPr txBox="1"/>
          <p:nvPr/>
        </p:nvSpPr>
        <p:spPr>
          <a:xfrm>
            <a:off x="4536000" y="4248000"/>
            <a:ext cx="2808000" cy="93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en-US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Demo </a:t>
            </a:r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架构与录像对象路径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上传状态、预签名与分片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7992000" y="2052000"/>
            <a:ext cx="3312000" cy="3384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84" name="文本框 83"/>
          <p:cNvSpPr txBox="1"/>
          <p:nvPr/>
        </p:nvSpPr>
        <p:spPr>
          <a:xfrm>
            <a:off x="8208000" y="2268000"/>
            <a:ext cx="864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8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03</a:t>
            </a:r>
            <a:endParaRPr lang="en-US" sz="18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244000" y="3168000"/>
            <a:ext cx="2808000" cy="57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实践小结</a:t>
            </a:r>
            <a:endParaRPr lang="en-US" sz="2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6" name="直接连接符 85"/>
          <p:cNvSpPr/>
          <p:nvPr/>
        </p:nvSpPr>
        <p:spPr>
          <a:xfrm>
            <a:off x="8244000" y="3960000"/>
            <a:ext cx="864000" cy="0"/>
          </a:xfrm>
          <a:prstGeom prst="line">
            <a:avLst/>
          </a:prstGeom>
          <a:ln w="57600">
            <a:solidFill>
              <a:srgbClr val="172033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7" name="文本框 86"/>
          <p:cNvSpPr txBox="1"/>
          <p:nvPr/>
        </p:nvSpPr>
        <p:spPr>
          <a:xfrm>
            <a:off x="8244000" y="4248000"/>
            <a:ext cx="2808000" cy="93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已完成的功能验证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后续完善方向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93" name="文本框 92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95" name="文本框 94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97" name="文本框 96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对象存储与文件系统的差异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9" name="直接连接符 98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0" name="文本框 99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76000" y="1692000"/>
            <a:ext cx="10440000" cy="2790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同样能保存文件，但组织方式、访问方式和适用场景不同。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684000" y="2124000"/>
            <a:ext cx="4788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8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文件系统</a:t>
            </a:r>
            <a:endParaRPr lang="en-US" sz="18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6624000" y="2124000"/>
            <a:ext cx="4788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8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对象存储</a:t>
            </a:r>
            <a:endParaRPr lang="en-US" sz="18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4" name="直接连接符 103"/>
          <p:cNvSpPr/>
          <p:nvPr/>
        </p:nvSpPr>
        <p:spPr>
          <a:xfrm>
            <a:off x="6084000" y="2088000"/>
            <a:ext cx="0" cy="3132000"/>
          </a:xfrm>
          <a:prstGeom prst="line">
            <a:avLst/>
          </a:prstGeom>
          <a:ln w="180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5" name="矩形 104"/>
          <p:cNvSpPr/>
          <p:nvPr/>
        </p:nvSpPr>
        <p:spPr>
          <a:xfrm>
            <a:off x="720000" y="2736000"/>
            <a:ext cx="4572000" cy="2088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106" name="文本框 105"/>
          <p:cNvSpPr txBox="1"/>
          <p:nvPr/>
        </p:nvSpPr>
        <p:spPr>
          <a:xfrm>
            <a:off x="1044000" y="2880000"/>
            <a:ext cx="288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4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/data</a:t>
            </a:r>
            <a:endParaRPr lang="en-US" sz="14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368000" y="3420000"/>
            <a:ext cx="324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2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└─ </a:t>
            </a:r>
            <a:r>
              <a:rPr lang="en-US" sz="12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images</a:t>
            </a:r>
            <a:endParaRPr lang="en-US" sz="1200" b="0" strike="noStrike" spc="-1">
              <a:solidFill>
                <a:srgbClr val="64748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692000" y="3924000"/>
            <a:ext cx="324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2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   └─ </a:t>
            </a:r>
            <a:r>
              <a:rPr lang="en-US" sz="12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avatar.png</a:t>
            </a:r>
            <a:endParaRPr lang="en-US" sz="1200" b="0" strike="noStrike" spc="-1">
              <a:solidFill>
                <a:srgbClr val="64748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864000" y="4824000"/>
            <a:ext cx="4536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按目录路径访问；支持随机读写、文件锁；可在文件内部局部读写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732000" y="2736000"/>
            <a:ext cx="4572000" cy="2088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111" name="矩形 110"/>
          <p:cNvSpPr/>
          <p:nvPr/>
        </p:nvSpPr>
        <p:spPr>
          <a:xfrm>
            <a:off x="7020000" y="2880000"/>
            <a:ext cx="1332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112" name="文本框 111"/>
          <p:cNvSpPr txBox="1"/>
          <p:nvPr/>
        </p:nvSpPr>
        <p:spPr>
          <a:xfrm>
            <a:off x="7020000" y="2880000"/>
            <a:ext cx="133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BUCKET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8532000" y="2880000"/>
            <a:ext cx="2268000" cy="29556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3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assets</a:t>
            </a:r>
            <a:endParaRPr lang="en-US" sz="13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020000" y="3456000"/>
            <a:ext cx="1332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115" name="文本框 114"/>
          <p:cNvSpPr txBox="1"/>
          <p:nvPr/>
        </p:nvSpPr>
        <p:spPr>
          <a:xfrm>
            <a:off x="7020000" y="3456000"/>
            <a:ext cx="133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KEY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532000" y="3456000"/>
            <a:ext cx="2484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1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images/avatar.png</a:t>
            </a:r>
            <a:endParaRPr lang="en-US" sz="11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020000" y="4032000"/>
            <a:ext cx="1332000" cy="28800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118" name="文本框 117"/>
          <p:cNvSpPr txBox="1"/>
          <p:nvPr/>
        </p:nvSpPr>
        <p:spPr>
          <a:xfrm>
            <a:off x="7020000" y="4032000"/>
            <a:ext cx="133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OBJECT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8532000" y="4032000"/>
            <a:ext cx="2412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1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bytes + metadata</a:t>
            </a:r>
            <a:endParaRPr lang="en-US" sz="11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6768000" y="4824000"/>
            <a:ext cx="4572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按 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bucket + key 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访问；通过 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HTTP API 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上传或下载，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读写对象；</a:t>
            </a:r>
            <a:r>
              <a:rPr lang="en-US" alt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通常整体替换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188000" y="5616245"/>
            <a:ext cx="9792000" cy="612000"/>
          </a:xfrm>
          <a:prstGeom prst="rect">
            <a:avLst/>
          </a:prstGeom>
          <a:solidFill>
            <a:srgbClr val="FFF5CF"/>
          </a:solidFill>
          <a:ln w="0">
            <a:noFill/>
          </a:ln>
        </p:spPr>
      </p:sp>
      <p:sp>
        <p:nvSpPr>
          <p:cNvPr id="124" name="文本框 123"/>
          <p:cNvSpPr txBox="1"/>
          <p:nvPr/>
        </p:nvSpPr>
        <p:spPr>
          <a:xfrm>
            <a:off x="1368000" y="5688000"/>
            <a:ext cx="9432000" cy="57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b="1" spc="-1">
                <a:solidFill>
                  <a:srgbClr val="16865C"/>
                </a:solidFill>
                <a:latin typeface="Noto Sans CJK SC" panose="020B0500000000000000" charset="-122"/>
                <a:sym typeface="+mn-ea"/>
              </a:rPr>
              <a:t>对象存储常见场景：图片、视频、安装包、日志归档与备份</a:t>
            </a:r>
            <a:endParaRPr lang="zh-CN" sz="1000" b="1" spc="-1">
              <a:solidFill>
                <a:srgbClr val="16865C"/>
              </a:solidFill>
              <a:latin typeface="Noto Sans CJK SC" panose="020B0500000000000000" charset="-122"/>
              <a:sym typeface="+mn-ea"/>
            </a:endParaRPr>
          </a:p>
          <a:p>
            <a:pPr algn="ctr">
              <a:buNone/>
            </a:pPr>
            <a:r>
              <a:rPr lang="zh-CN" sz="1000" b="1" spc="-1">
                <a:solidFill>
                  <a:srgbClr val="9F1837"/>
                </a:solidFill>
                <a:latin typeface="Noto Sans CJK SC" panose="020B0500000000000000" charset="-122"/>
                <a:sym typeface="+mn-ea"/>
              </a:rPr>
              <a:t>对象存储不适合直接承担：文件锁、频繁就地修改、数据库磁盘</a:t>
            </a:r>
            <a:endParaRPr lang="en-US" sz="1000" b="1" strike="noStrike" spc="-1">
              <a:solidFill>
                <a:srgbClr val="9F1837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endParaRPr lang="en-US" sz="10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129" name="文本框 128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131" name="文本框 130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133" name="文本框 132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MinIO </a:t>
            </a:r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定位：自部署 </a:t>
            </a:r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S3 </a:t>
            </a:r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兼容对象存储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35" name="直接连接符 134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6" name="文本框 135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04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576000" y="1764000"/>
            <a:ext cx="1026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3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是一个服务端软件，它跑起来后对外提供一个通过 HTTP 访问的对象存储服务，接口兼容 Amazon S3。</a:t>
            </a:r>
            <a:endParaRPr lang="zh-CN" sz="1300" b="0" strike="noStrike" spc="-1">
              <a:solidFill>
                <a:srgbClr val="64748B"/>
              </a:solidFill>
              <a:latin typeface="Noto Sans CJK SC" panose="020B0500000000000000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720090" y="2663825"/>
            <a:ext cx="2151380" cy="1548130"/>
          </a:xfrm>
          <a:prstGeom prst="rect">
            <a:avLst/>
          </a:prstGeom>
          <a:solidFill>
            <a:srgbClr val="FFFFFF"/>
          </a:solidFill>
          <a:ln w="36000">
            <a:solidFill>
              <a:srgbClr val="C72C48"/>
            </a:solidFill>
            <a:round/>
          </a:ln>
        </p:spPr>
      </p:sp>
      <p:sp>
        <p:nvSpPr>
          <p:cNvPr id="139" name="文本框 138"/>
          <p:cNvSpPr txBox="1"/>
          <p:nvPr/>
        </p:nvSpPr>
        <p:spPr>
          <a:xfrm>
            <a:off x="887095" y="2860675"/>
            <a:ext cx="1816735" cy="50736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9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业务应用</a:t>
            </a:r>
            <a:endParaRPr lang="en-US" sz="1900" b="1" strike="noStrike" spc="-1">
              <a:solidFill>
                <a:srgbClr val="C72C4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983615" y="3491865"/>
            <a:ext cx="1767840" cy="36385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Go / Java / C++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3506470" y="2693670"/>
            <a:ext cx="2174875" cy="1548130"/>
          </a:xfrm>
          <a:prstGeom prst="rect">
            <a:avLst/>
          </a:prstGeom>
          <a:solidFill>
            <a:srgbClr val="FFFFFF"/>
          </a:solidFill>
          <a:ln w="36000">
            <a:solidFill>
              <a:srgbClr val="07879B"/>
            </a:solidFill>
            <a:round/>
          </a:ln>
        </p:spPr>
      </p:sp>
      <p:sp>
        <p:nvSpPr>
          <p:cNvPr id="142" name="文本框 141"/>
          <p:cNvSpPr txBox="1"/>
          <p:nvPr/>
        </p:nvSpPr>
        <p:spPr>
          <a:xfrm>
            <a:off x="3744595" y="2860675"/>
            <a:ext cx="1583690" cy="50736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9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S3 API</a:t>
            </a:r>
            <a:endParaRPr lang="en-US" sz="1900" b="1" strike="noStrike" spc="-1">
              <a:solidFill>
                <a:srgbClr val="07879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791585" y="3419475"/>
            <a:ext cx="1628140" cy="36385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SDK / CLI / HTTP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6342380" y="2663825"/>
            <a:ext cx="2157095" cy="1548130"/>
          </a:xfrm>
          <a:prstGeom prst="rect">
            <a:avLst/>
          </a:prstGeom>
          <a:solidFill>
            <a:srgbClr val="FFFFFF"/>
          </a:solidFill>
          <a:ln w="36000">
            <a:solidFill>
              <a:srgbClr val="172033"/>
            </a:solidFill>
            <a:round/>
          </a:ln>
        </p:spPr>
      </p:sp>
      <p:sp>
        <p:nvSpPr>
          <p:cNvPr id="145" name="文本框 144"/>
          <p:cNvSpPr txBox="1"/>
          <p:nvPr/>
        </p:nvSpPr>
        <p:spPr>
          <a:xfrm>
            <a:off x="6527800" y="2860040"/>
            <a:ext cx="1779905" cy="50736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9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MinIO</a:t>
            </a:r>
            <a:endParaRPr lang="en-US" sz="19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530340" y="3491865"/>
            <a:ext cx="1777365" cy="36385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自部署对象存储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7" name="直接连接符 146"/>
          <p:cNvSpPr/>
          <p:nvPr/>
        </p:nvSpPr>
        <p:spPr>
          <a:xfrm>
            <a:off x="2882940" y="3420000"/>
            <a:ext cx="612000" cy="0"/>
          </a:xfrm>
          <a:prstGeom prst="line">
            <a:avLst/>
          </a:prstGeom>
          <a:ln w="43200">
            <a:solidFill>
              <a:srgbClr val="C72C4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8" name="直接连接符 147"/>
          <p:cNvSpPr/>
          <p:nvPr/>
        </p:nvSpPr>
        <p:spPr>
          <a:xfrm>
            <a:off x="5729880" y="3420000"/>
            <a:ext cx="612000" cy="0"/>
          </a:xfrm>
          <a:prstGeom prst="line">
            <a:avLst/>
          </a:prstGeom>
          <a:ln w="43200">
            <a:solidFill>
              <a:srgbClr val="07879B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9" name="椭圆 148"/>
          <p:cNvSpPr/>
          <p:nvPr/>
        </p:nvSpPr>
        <p:spPr>
          <a:xfrm>
            <a:off x="720000" y="4752000"/>
            <a:ext cx="504000" cy="504000"/>
          </a:xfrm>
          <a:prstGeom prst="ellipse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150" name="文本框 149"/>
          <p:cNvSpPr txBox="1"/>
          <p:nvPr/>
        </p:nvSpPr>
        <p:spPr>
          <a:xfrm>
            <a:off x="720000" y="4752000"/>
            <a:ext cx="504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1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1368000" y="4680000"/>
            <a:ext cx="270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400" b="1" spc="-1">
                <a:solidFill>
                  <a:srgbClr val="172033"/>
                </a:solidFill>
                <a:latin typeface="Noto Sans CJK SC" panose="020B0500000000000000" charset="-122"/>
                <a:sym typeface="+mn-ea"/>
              </a:rPr>
              <a:t>业务解耦</a:t>
            </a:r>
            <a:endParaRPr lang="en-US" sz="14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368000" y="5148000"/>
            <a:ext cx="2808000" cy="68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应用只关心 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endpoint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、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bucket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、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key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不需要理解底层磁盘布局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3" name="椭圆 152"/>
          <p:cNvSpPr/>
          <p:nvPr/>
        </p:nvSpPr>
        <p:spPr>
          <a:xfrm>
            <a:off x="4428000" y="4752000"/>
            <a:ext cx="504000" cy="504000"/>
          </a:xfrm>
          <a:prstGeom prst="ellipse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154" name="文本框 153"/>
          <p:cNvSpPr txBox="1"/>
          <p:nvPr/>
        </p:nvSpPr>
        <p:spPr>
          <a:xfrm>
            <a:off x="4428000" y="4752000"/>
            <a:ext cx="504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2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5076000" y="4680000"/>
            <a:ext cx="270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400" b="1" spc="-1">
                <a:solidFill>
                  <a:srgbClr val="172033"/>
                </a:solidFill>
                <a:latin typeface="Noto Sans CJK SC" panose="020B0500000000000000" charset="-122"/>
                <a:sym typeface="+mn-ea"/>
              </a:rPr>
              <a:t>S3 </a:t>
            </a:r>
            <a:r>
              <a:rPr lang="zh-CN" sz="1400" b="1" spc="-1">
                <a:solidFill>
                  <a:srgbClr val="172033"/>
                </a:solidFill>
                <a:latin typeface="Noto Sans CJK SC" panose="020B0500000000000000" charset="-122"/>
                <a:sym typeface="+mn-ea"/>
              </a:rPr>
              <a:t>兼容</a:t>
            </a:r>
            <a:endParaRPr lang="en-US" sz="14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076000" y="5148000"/>
            <a:ext cx="2808000" cy="68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沿用 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PutObject / GetObject 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等接口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复用成熟 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SDK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、</a:t>
            </a:r>
            <a:r>
              <a:rPr lang="en-US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CLI </a:t>
            </a:r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与工具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7" name="椭圆 156"/>
          <p:cNvSpPr/>
          <p:nvPr/>
        </p:nvSpPr>
        <p:spPr>
          <a:xfrm>
            <a:off x="8136000" y="4752000"/>
            <a:ext cx="504000" cy="504000"/>
          </a:xfrm>
          <a:prstGeom prst="ellipse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158" name="文本框 157"/>
          <p:cNvSpPr txBox="1"/>
          <p:nvPr/>
        </p:nvSpPr>
        <p:spPr>
          <a:xfrm>
            <a:off x="8136000" y="4752000"/>
            <a:ext cx="504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3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784000" y="4680000"/>
            <a:ext cx="2700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400" b="1" spc="-1">
                <a:solidFill>
                  <a:srgbClr val="172033"/>
                </a:solidFill>
                <a:latin typeface="Noto Sans CJK SC" panose="020B0500000000000000" charset="-122"/>
                <a:sym typeface="+mn-ea"/>
              </a:rPr>
              <a:t>部署可控</a:t>
            </a:r>
            <a:endParaRPr lang="en-US" sz="14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784000" y="5148000"/>
            <a:ext cx="2808000" cy="68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数据与服务位置可自由决定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zh-CN" sz="10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适合本地、私有化和测试环境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MinIO </a:t>
            </a:r>
            <a:r>
              <a:rPr lang="zh-CN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30030" y="2663825"/>
            <a:ext cx="2151380" cy="1548130"/>
          </a:xfrm>
          <a:prstGeom prst="rect">
            <a:avLst/>
          </a:prstGeom>
          <a:solidFill>
            <a:srgbClr val="FFFFFF"/>
          </a:solidFill>
          <a:ln w="36000">
            <a:solidFill>
              <a:schemeClr val="bg1">
                <a:lumMod val="50000"/>
              </a:schemeClr>
            </a:solidFill>
            <a:round/>
          </a:ln>
        </p:spPr>
      </p:sp>
      <p:sp>
        <p:nvSpPr>
          <p:cNvPr id="5" name="直接连接符 4"/>
          <p:cNvSpPr/>
          <p:nvPr/>
        </p:nvSpPr>
        <p:spPr>
          <a:xfrm>
            <a:off x="8523245" y="3459370"/>
            <a:ext cx="612000" cy="0"/>
          </a:xfrm>
          <a:prstGeom prst="line">
            <a:avLst/>
          </a:prstGeom>
          <a:ln w="43200">
            <a:solidFill>
              <a:schemeClr val="bg1">
                <a:lumMod val="50000"/>
              </a:schemeClr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" name="文本框 5"/>
          <p:cNvSpPr txBox="1"/>
          <p:nvPr/>
        </p:nvSpPr>
        <p:spPr>
          <a:xfrm>
            <a:off x="9110980" y="2860040"/>
            <a:ext cx="2188845" cy="50736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9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本地磁盘 / 存储卷</a:t>
            </a:r>
            <a:endParaRPr lang="en-US" sz="1900" b="1" strike="noStrike" spc="-1">
              <a:solidFill>
                <a:srgbClr val="172033"/>
              </a:solidFill>
              <a:latin typeface="Noto Sans CJK SC" panose="020B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36405" y="3491865"/>
            <a:ext cx="1777365" cy="36385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文件系统 / 块存储 / NAS</a:t>
            </a:r>
            <a:endParaRPr lang="zh-CN" sz="1000" b="0" strike="noStrike" spc="-1">
              <a:solidFill>
                <a:srgbClr val="64748B"/>
              </a:solidFill>
              <a:latin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矩形 163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165" name="文本框 164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167" name="文本框 166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169" name="文本框 168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对象存储的核心数据模型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71" name="直接连接符 170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2" name="文本框 171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05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648000" y="1656000"/>
            <a:ext cx="10296000" cy="2790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定位一个对象只需要 </a:t>
            </a:r>
            <a:r>
              <a:rPr lang="en-US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bucket + key</a:t>
            </a:r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；</a:t>
            </a:r>
            <a:r>
              <a:rPr lang="en-US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object </a:t>
            </a:r>
            <a:r>
              <a:rPr lang="zh-CN" sz="12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是被保存的实际内容。</a:t>
            </a:r>
            <a:endParaRPr lang="en-US" sz="12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648000" y="2088000"/>
            <a:ext cx="1548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175" name="文本框 174"/>
          <p:cNvSpPr txBox="1"/>
          <p:nvPr/>
        </p:nvSpPr>
        <p:spPr>
          <a:xfrm>
            <a:off x="648000" y="2088000"/>
            <a:ext cx="154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BUCKET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2520000" y="2016000"/>
            <a:ext cx="3564000" cy="39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7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evtvcr</a:t>
            </a:r>
            <a:endParaRPr lang="en-US" sz="17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6516000" y="1980000"/>
            <a:ext cx="4968000" cy="65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逻辑容器，也是权限、版本与生命周期策略的边界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Go 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服务启动时检查并按需创建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78" name="直接连接符 177"/>
          <p:cNvSpPr/>
          <p:nvPr/>
        </p:nvSpPr>
        <p:spPr>
          <a:xfrm>
            <a:off x="648000" y="2880000"/>
            <a:ext cx="1083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9" name="矩形 178"/>
          <p:cNvSpPr/>
          <p:nvPr/>
        </p:nvSpPr>
        <p:spPr>
          <a:xfrm>
            <a:off x="648000" y="3276000"/>
            <a:ext cx="1548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180" name="文本框 179"/>
          <p:cNvSpPr txBox="1"/>
          <p:nvPr/>
        </p:nvSpPr>
        <p:spPr>
          <a:xfrm>
            <a:off x="648000" y="3276000"/>
            <a:ext cx="154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KEY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2520000" y="3204000"/>
            <a:ext cx="3564000" cy="39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7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camID/sessionID/fileName</a:t>
            </a:r>
            <a:endParaRPr lang="en-US" sz="17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16000" y="3168000"/>
            <a:ext cx="4968000" cy="65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对象在 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bucket 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内的唯一名字，大小写敏感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“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/”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用于业务分层，但 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key 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仍是完整字符串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83" name="直接连接符 182"/>
          <p:cNvSpPr/>
          <p:nvPr/>
        </p:nvSpPr>
        <p:spPr>
          <a:xfrm>
            <a:off x="648000" y="4068000"/>
            <a:ext cx="1083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4" name="矩形 183"/>
          <p:cNvSpPr/>
          <p:nvPr/>
        </p:nvSpPr>
        <p:spPr>
          <a:xfrm>
            <a:off x="648000" y="4464000"/>
            <a:ext cx="1548000" cy="28800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185" name="文本框 184"/>
          <p:cNvSpPr txBox="1"/>
          <p:nvPr/>
        </p:nvSpPr>
        <p:spPr>
          <a:xfrm>
            <a:off x="648000" y="4464000"/>
            <a:ext cx="154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OBJECT</a:t>
            </a:r>
            <a:endParaRPr lang="en-US" sz="10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2520000" y="4392000"/>
            <a:ext cx="3564000" cy="39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7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录像文件 </a:t>
            </a:r>
            <a:r>
              <a:rPr lang="en-US" sz="17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+ metadata</a:t>
            </a:r>
            <a:endParaRPr lang="en-US" sz="17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516000" y="4356000"/>
            <a:ext cx="4968000" cy="65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录像、缩略图或索引的字节内容及 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ETag 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等元数据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上传得到对象，下载取回字节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648000" y="5724000"/>
            <a:ext cx="10836000" cy="540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</p:sp>
      <p:sp>
        <p:nvSpPr>
          <p:cNvPr id="189" name="文本框 188"/>
          <p:cNvSpPr txBox="1"/>
          <p:nvPr/>
        </p:nvSpPr>
        <p:spPr>
          <a:xfrm>
            <a:off x="828000" y="5724000"/>
            <a:ext cx="8892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altLang="en-US" sz="1200" b="1" spc="-1">
                <a:solidFill>
                  <a:srgbClr val="FFFFFF"/>
                </a:solidFill>
                <a:latin typeface="Noto Sans Mono CJK SC" panose="020B0500000000000000" charset="-122"/>
                <a:ea typeface="宋体" charset="0"/>
                <a:sym typeface="+mn-ea"/>
              </a:rPr>
              <a:t>具体的文件可理解为</a:t>
            </a:r>
            <a:r>
              <a:rPr lang="en-US" altLang="zh-CN" sz="1200" b="1" spc="-1">
                <a:solidFill>
                  <a:srgbClr val="FFFFFF"/>
                </a:solidFill>
                <a:latin typeface="Noto Sans Mono CJK SC" panose="020B0500000000000000" charset="-122"/>
                <a:ea typeface="宋体" charset="0"/>
                <a:sym typeface="+mn-ea"/>
              </a:rPr>
              <a:t> </a:t>
            </a:r>
            <a:r>
              <a:rPr lang="en-US" sz="12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s3://evtvcr/AC250071/1789112960/vectors.idx</a:t>
            </a:r>
            <a:endParaRPr lang="en-US" sz="12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8141635" y="5724000"/>
            <a:ext cx="828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A7F3D0"/>
                </a:solidFill>
                <a:latin typeface="Noto Sans Mono CJK SC" panose="020B0500000000000000" charset="-122"/>
              </a:rPr>
              <a:t>bucket </a:t>
            </a:r>
            <a:r>
              <a:rPr lang="en-US" sz="800" b="1" spc="-1">
                <a:solidFill>
                  <a:srgbClr val="FDE68A"/>
                </a:solidFill>
                <a:latin typeface="Noto Sans Mono CJK SC" panose="020B0500000000000000" charset="-122"/>
                <a:sym typeface="+mn-ea"/>
              </a:rPr>
              <a:t>+ key</a:t>
            </a:r>
            <a:endParaRPr lang="en-US" sz="800" b="1" strike="noStrike" spc="-1">
              <a:solidFill>
                <a:srgbClr val="A7F3D0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27432" rIns="73152" bIns="27432" anchor="ctr"/>
          <a:lstStyle/>
          <a:p>
            <a:pPr algn="l"/>
            <a:endParaRPr lang="zh-CN" sz="1200"/>
          </a:p>
        </p:txBody>
      </p:sp>
      <p:sp>
        <p:nvSpPr>
          <p:cNvPr id="3" name="导航 01"/>
          <p:cNvSpPr/>
          <p:nvPr/>
        </p:nvSpPr>
        <p:spPr>
          <a:xfrm>
            <a:off x="576072" y="246888"/>
            <a:ext cx="1600200" cy="310896"/>
          </a:xfrm>
          <a:prstGeom prst="rect">
            <a:avLst/>
          </a:prstGeom>
          <a:solidFill>
            <a:srgbClr val="C7264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01  基础概念</a:t>
            </a:r>
            <a:endParaRPr lang="zh-CN" sz="800"/>
          </a:p>
        </p:txBody>
      </p:sp>
      <p:sp>
        <p:nvSpPr>
          <p:cNvPr id="4" name="导航 02"/>
          <p:cNvSpPr/>
          <p:nvPr/>
        </p:nvSpPr>
        <p:spPr>
          <a:xfrm>
            <a:off x="2304288" y="246888"/>
            <a:ext cx="1600200" cy="310896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4D5968"/>
                </a:solidFill>
                <a:latin typeface="Noto Sans CJK SC" panose="020B0500000000000000" charset="-122"/>
                <a:ea typeface="Noto Sans CJK SC" panose="020B0500000000000000" charset="-122"/>
              </a:rPr>
              <a:t>02  接入实践</a:t>
            </a:r>
            <a:endParaRPr lang="zh-CN" sz="800"/>
          </a:p>
        </p:txBody>
      </p:sp>
      <p:sp>
        <p:nvSpPr>
          <p:cNvPr id="5" name="导航 03"/>
          <p:cNvSpPr/>
          <p:nvPr/>
        </p:nvSpPr>
        <p:spPr>
          <a:xfrm>
            <a:off x="4032504" y="246888"/>
            <a:ext cx="1600200" cy="310896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4D5968"/>
                </a:solidFill>
                <a:latin typeface="Noto Sans CJK SC" panose="020B0500000000000000" charset="-122"/>
                <a:ea typeface="Noto Sans CJK SC" panose="020B0500000000000000" charset="-122"/>
              </a:rPr>
              <a:t>03  实践小结</a:t>
            </a:r>
            <a:endParaRPr lang="zh-CN" sz="800"/>
          </a:p>
        </p:txBody>
      </p:sp>
      <p:sp>
        <p:nvSpPr>
          <p:cNvPr id="6" name="页码"/>
          <p:cNvSpPr/>
          <p:nvPr/>
        </p:nvSpPr>
        <p:spPr>
          <a:xfrm>
            <a:off x="10945368" y="246888"/>
            <a:ext cx="594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1000" b="1">
                <a:solidFill>
                  <a:srgbClr val="4D5968"/>
                </a:solidFill>
                <a:latin typeface="Noto Sans CJK SC" panose="020B0500000000000000" charset="-122"/>
                <a:ea typeface="Noto Sans CJK SC" panose="020B0500000000000000" charset="-122"/>
              </a:rPr>
              <a:t>05</a:t>
            </a:r>
            <a:endParaRPr lang="zh-CN" sz="1000"/>
          </a:p>
        </p:txBody>
      </p:sp>
      <p:sp>
        <p:nvSpPr>
          <p:cNvPr id="7" name="标题"/>
          <p:cNvSpPr/>
          <p:nvPr/>
        </p:nvSpPr>
        <p:spPr>
          <a:xfrm>
            <a:off x="658368" y="722376"/>
            <a:ext cx="97840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2500" b="1">
                <a:solidFill>
                  <a:srgbClr val="172033"/>
                </a:solidFill>
                <a:latin typeface="Noto Sans CJK SC" panose="020B0500000000000000" charset="-122"/>
                <a:ea typeface="Noto Sans CJK SC" panose="020B0500000000000000" charset="-122"/>
              </a:rPr>
              <a:t>从逻辑到物理：底层到底存了什么？</a:t>
            </a:r>
            <a:endParaRPr lang="zh-CN" sz="2500"/>
          </a:p>
        </p:txBody>
      </p:sp>
      <p:sp>
        <p:nvSpPr>
          <p:cNvPr id="8" name="副标题"/>
          <p:cNvSpPr/>
          <p:nvPr/>
        </p:nvSpPr>
        <p:spPr>
          <a:xfrm>
            <a:off x="667512" y="1271016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110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逻辑上的“一个文件”，在磁盘上其实是一套由元数据与数据分片共同组成的对象。</a:t>
            </a:r>
            <a:endParaRPr lang="zh-CN" sz="1100"/>
          </a:p>
        </p:txBody>
      </p:sp>
      <p:sp>
        <p:nvSpPr>
          <p:cNvPr id="9" name="标题分隔线"/>
          <p:cNvSpPr/>
          <p:nvPr/>
        </p:nvSpPr>
        <p:spPr>
          <a:xfrm>
            <a:off x="658368" y="1618488"/>
            <a:ext cx="10881360" cy="0"/>
          </a:xfrm>
          <a:prstGeom prst="line">
            <a:avLst/>
          </a:prstGeom>
          <a:ln w="9000">
            <a:solidFill>
              <a:srgbClr val="D7DCE3"/>
            </a:solidFill>
          </a:ln>
        </p:spPr>
      </p:sp>
      <p:sp>
        <p:nvSpPr>
          <p:cNvPr id="10" name="用户视角标签"/>
          <p:cNvSpPr/>
          <p:nvPr/>
        </p:nvSpPr>
        <p:spPr>
          <a:xfrm>
            <a:off x="694944" y="1773936"/>
            <a:ext cx="1152144" cy="265176"/>
          </a:xfrm>
          <a:prstGeom prst="rect">
            <a:avLst/>
          </a:prstGeom>
          <a:solidFill>
            <a:srgbClr val="C7264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USER VIEW</a:t>
            </a:r>
            <a:endParaRPr lang="zh-CN" sz="800"/>
          </a:p>
        </p:txBody>
      </p:sp>
      <p:sp>
        <p:nvSpPr>
          <p:cNvPr id="11" name="用户视角说明"/>
          <p:cNvSpPr/>
          <p:nvPr/>
        </p:nvSpPr>
        <p:spPr>
          <a:xfrm>
            <a:off x="1938528" y="1773936"/>
            <a:ext cx="1783080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9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用户视角 · 友好</a:t>
            </a:r>
            <a:endParaRPr lang="zh-CN" sz="950"/>
          </a:p>
        </p:txBody>
      </p:sp>
      <p:sp>
        <p:nvSpPr>
          <p:cNvPr id="12" name="物理视角标签"/>
          <p:cNvSpPr/>
          <p:nvPr/>
        </p:nvSpPr>
        <p:spPr>
          <a:xfrm>
            <a:off x="4645152" y="1773936"/>
            <a:ext cx="1335024" cy="265176"/>
          </a:xfrm>
          <a:prstGeom prst="rect">
            <a:avLst/>
          </a:prstGeom>
          <a:solidFill>
            <a:srgbClr val="1396A3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PHYSICAL VIEW</a:t>
            </a:r>
            <a:endParaRPr lang="zh-CN" sz="800"/>
          </a:p>
        </p:txBody>
      </p:sp>
      <p:sp>
        <p:nvSpPr>
          <p:cNvPr id="13" name="物理视角说明"/>
          <p:cNvSpPr/>
          <p:nvPr/>
        </p:nvSpPr>
        <p:spPr>
          <a:xfrm>
            <a:off x="6108192" y="1773936"/>
            <a:ext cx="2011680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9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磁盘视角 · 机器友好</a:t>
            </a:r>
            <a:endParaRPr lang="zh-CN" sz="950"/>
          </a:p>
        </p:txBody>
      </p:sp>
      <p:sp>
        <p:nvSpPr>
          <p:cNvPr id="14" name="用户视角面板"/>
          <p:cNvSpPr/>
          <p:nvPr/>
        </p:nvSpPr>
        <p:spPr>
          <a:xfrm>
            <a:off x="694944" y="2103120"/>
            <a:ext cx="3063240" cy="3310128"/>
          </a:xfrm>
          <a:prstGeom prst="roundRect">
            <a:avLst/>
          </a:prstGeom>
          <a:solidFill>
            <a:srgbClr val="F6F8FA"/>
          </a:solidFill>
          <a:ln w="9000">
            <a:solidFill>
              <a:srgbClr val="DCE1E7"/>
            </a:solidFill>
          </a:ln>
        </p:spPr>
        <p:txBody>
          <a:bodyPr wrap="square" lIns="73152" tIns="27432" rIns="73152" bIns="27432" anchor="ctr"/>
          <a:lstStyle/>
          <a:p>
            <a:pPr algn="l"/>
            <a:endParaRPr lang="zh-CN" sz="1200"/>
          </a:p>
        </p:txBody>
      </p:sp>
      <p:sp>
        <p:nvSpPr>
          <p:cNvPr id="15" name="文件卡片"/>
          <p:cNvSpPr/>
          <p:nvPr/>
        </p:nvSpPr>
        <p:spPr>
          <a:xfrm>
            <a:off x="941832" y="2359152"/>
            <a:ext cx="2569464" cy="107899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6"/>
            </a:solidFill>
          </a:ln>
        </p:spPr>
        <p:txBody>
          <a:bodyPr wrap="square" lIns="73152" tIns="27432" rIns="73152" bIns="27432" anchor="ctr"/>
          <a:lstStyle/>
          <a:p>
            <a:pPr algn="l"/>
            <a:endParaRPr lang="zh-CN" sz="1200"/>
          </a:p>
        </p:txBody>
      </p:sp>
      <p:sp>
        <p:nvSpPr>
          <p:cNvPr id="16" name="JPG 图标"/>
          <p:cNvSpPr/>
          <p:nvPr/>
        </p:nvSpPr>
        <p:spPr>
          <a:xfrm>
            <a:off x="1115568" y="2596896"/>
            <a:ext cx="475488" cy="475488"/>
          </a:xfrm>
          <a:prstGeom prst="roundRect">
            <a:avLst/>
          </a:prstGeom>
          <a:solidFill>
            <a:srgbClr val="C7264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JPG</a:t>
            </a:r>
            <a:endParaRPr lang="zh-CN" sz="800"/>
          </a:p>
        </p:txBody>
      </p:sp>
      <p:sp>
        <p:nvSpPr>
          <p:cNvPr id="17" name="对象文件名"/>
          <p:cNvSpPr/>
          <p:nvPr/>
        </p:nvSpPr>
        <p:spPr>
          <a:xfrm>
            <a:off x="1728216" y="2478024"/>
            <a:ext cx="1572768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1300" b="1">
                <a:solidFill>
                  <a:srgbClr val="172033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thumbnail-
1789113609.jpg</a:t>
            </a:r>
            <a:endParaRPr lang="zh-CN" sz="1300"/>
          </a:p>
        </p:txBody>
      </p:sp>
      <p:sp>
        <p:nvSpPr>
          <p:cNvPr id="18" name="对象文件说明"/>
          <p:cNvSpPr/>
          <p:nvPr/>
        </p:nvSpPr>
        <p:spPr>
          <a:xfrm>
            <a:off x="1728216" y="301752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900" b="0">
                <a:solidFill>
                  <a:srgbClr val="6B7583"/>
                </a:solidFill>
                <a:latin typeface="Noto Sans CJK SC" panose="020B0500000000000000" charset="-122"/>
                <a:ea typeface="Noto Sans CJK SC" panose="020B0500000000000000" charset="-122"/>
              </a:rPr>
              <a:t>一个完整对象</a:t>
            </a:r>
            <a:endParaRPr lang="zh-CN" sz="900"/>
          </a:p>
        </p:txBody>
      </p:sp>
      <p:sp>
        <p:nvSpPr>
          <p:cNvPr id="19" name="对象地址标题"/>
          <p:cNvSpPr/>
          <p:nvPr/>
        </p:nvSpPr>
        <p:spPr>
          <a:xfrm>
            <a:off x="950976" y="363931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900" b="1">
                <a:solidFill>
                  <a:srgbClr val="C72647"/>
                </a:solidFill>
                <a:latin typeface="Noto Sans CJK SC" panose="020B0500000000000000" charset="-122"/>
                <a:ea typeface="Noto Sans CJK SC" panose="020B0500000000000000" charset="-122"/>
              </a:rPr>
              <a:t>对象地址</a:t>
            </a:r>
            <a:endParaRPr lang="zh-CN" sz="900"/>
          </a:p>
        </p:txBody>
      </p:sp>
      <p:sp>
        <p:nvSpPr>
          <p:cNvPr id="20" name="对象地址"/>
          <p:cNvSpPr/>
          <p:nvPr/>
        </p:nvSpPr>
        <p:spPr>
          <a:xfrm>
            <a:off x="950976" y="3886200"/>
            <a:ext cx="2551176" cy="804672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txBody>
          <a:bodyPr wrap="square" lIns="164592" tIns="27432" rIns="146304" bIns="27432" anchor="ctr"/>
          <a:lstStyle/>
          <a:p>
            <a:pPr algn="l"/>
            <a:r>
              <a:rPr lang="zh-CN" sz="950" b="1">
                <a:solidFill>
                  <a:srgbClr val="FFFFFF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s3://evtvcr/</a:t>
            </a:r>
            <a:endParaRPr lang="zh-CN" sz="950"/>
          </a:p>
          <a:p>
            <a:pPr algn="l"/>
            <a:r>
              <a:rPr lang="zh-CN" sz="950" b="0">
                <a:solidFill>
                  <a:srgbClr val="DCE4EC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RTSPCH02/1789113609/</a:t>
            </a:r>
            <a:endParaRPr lang="zh-CN" sz="950"/>
          </a:p>
          <a:p>
            <a:pPr algn="l"/>
            <a:r>
              <a:rPr lang="zh-CN" sz="950" b="1">
                <a:solidFill>
                  <a:srgbClr val="7EDBE3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thumbnail-1789113609.jpg</a:t>
            </a:r>
            <a:endParaRPr lang="zh-CN" sz="950"/>
          </a:p>
        </p:txBody>
      </p:sp>
      <p:sp>
        <p:nvSpPr>
          <p:cNvPr id="21" name="Bucket 标签"/>
          <p:cNvSpPr/>
          <p:nvPr/>
        </p:nvSpPr>
        <p:spPr>
          <a:xfrm>
            <a:off x="950976" y="4882896"/>
            <a:ext cx="713232" cy="274320"/>
          </a:xfrm>
          <a:prstGeom prst="rect">
            <a:avLst/>
          </a:prstGeom>
          <a:solidFill>
            <a:srgbClr val="C7264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BUCKET</a:t>
            </a:r>
            <a:endParaRPr lang="zh-CN" sz="750"/>
          </a:p>
        </p:txBody>
      </p:sp>
      <p:sp>
        <p:nvSpPr>
          <p:cNvPr id="22" name="Bucket 值"/>
          <p:cNvSpPr/>
          <p:nvPr/>
        </p:nvSpPr>
        <p:spPr>
          <a:xfrm>
            <a:off x="1719072" y="4882896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950" b="1">
                <a:solidFill>
                  <a:srgbClr val="172033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evtvcr</a:t>
            </a:r>
            <a:endParaRPr lang="zh-CN" sz="950"/>
          </a:p>
        </p:txBody>
      </p:sp>
      <p:sp>
        <p:nvSpPr>
          <p:cNvPr id="23" name="Key 标签"/>
          <p:cNvSpPr/>
          <p:nvPr/>
        </p:nvSpPr>
        <p:spPr>
          <a:xfrm>
            <a:off x="2468880" y="4882896"/>
            <a:ext cx="475488" cy="274320"/>
          </a:xfrm>
          <a:prstGeom prst="rect">
            <a:avLst/>
          </a:prstGeom>
          <a:solidFill>
            <a:srgbClr val="1396A3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75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KEY</a:t>
            </a:r>
            <a:endParaRPr lang="zh-CN" sz="750"/>
          </a:p>
        </p:txBody>
      </p:sp>
      <p:sp>
        <p:nvSpPr>
          <p:cNvPr id="24" name="Key 值"/>
          <p:cNvSpPr/>
          <p:nvPr/>
        </p:nvSpPr>
        <p:spPr>
          <a:xfrm>
            <a:off x="2990088" y="4882896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其余路径</a:t>
            </a:r>
            <a:endParaRPr lang="zh-CN" sz="850"/>
          </a:p>
        </p:txBody>
      </p:sp>
      <p:sp>
        <p:nvSpPr>
          <p:cNvPr id="25" name="不等于"/>
          <p:cNvSpPr/>
          <p:nvPr/>
        </p:nvSpPr>
        <p:spPr>
          <a:xfrm>
            <a:off x="3877056" y="3182112"/>
            <a:ext cx="603504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3400" b="1">
                <a:solidFill>
                  <a:srgbClr val="C72647"/>
                </a:solidFill>
                <a:latin typeface="Noto Sans CJK SC" panose="020B0500000000000000" charset="-122"/>
                <a:ea typeface="Noto Sans CJK SC" panose="020B0500000000000000" charset="-122"/>
              </a:rPr>
              <a:t>≠</a:t>
            </a:r>
            <a:endParaRPr lang="zh-CN" sz="3400"/>
          </a:p>
        </p:txBody>
      </p:sp>
      <p:sp>
        <p:nvSpPr>
          <p:cNvPr id="26" name="不等于说明"/>
          <p:cNvSpPr/>
          <p:nvPr/>
        </p:nvSpPr>
        <p:spPr>
          <a:xfrm>
            <a:off x="3822192" y="3803904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750" b="0">
                <a:solidFill>
                  <a:srgbClr val="6B7583"/>
                </a:solidFill>
                <a:latin typeface="Noto Sans CJK SC" panose="020B0500000000000000" charset="-122"/>
                <a:ea typeface="Noto Sans CJK SC" panose="020B0500000000000000" charset="-122"/>
              </a:rPr>
              <a:t>呈现不同
对象相同</a:t>
            </a:r>
            <a:endParaRPr lang="zh-CN" sz="750"/>
          </a:p>
        </p:txBody>
      </p:sp>
      <p:sp>
        <p:nvSpPr>
          <p:cNvPr id="27" name="物理视角面板"/>
          <p:cNvSpPr/>
          <p:nvPr/>
        </p:nvSpPr>
        <p:spPr>
          <a:xfrm>
            <a:off x="4645152" y="2103120"/>
            <a:ext cx="6894576" cy="3310128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1E7"/>
            </a:solidFill>
          </a:ln>
        </p:spPr>
        <p:txBody>
          <a:bodyPr wrap="square" lIns="73152" tIns="27432" rIns="73152" bIns="27432" anchor="ctr"/>
          <a:lstStyle/>
          <a:p>
            <a:pPr algn="l"/>
            <a:endParaRPr lang="zh-CN" sz="1200"/>
          </a:p>
        </p:txBody>
      </p:sp>
      <p:pic>
        <p:nvPicPr>
          <p:cNvPr id="28" name="实际存储目录截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896" y="2331720"/>
            <a:ext cx="6419088" cy="1728216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29" name="路径高亮"/>
          <p:cNvSpPr/>
          <p:nvPr/>
        </p:nvSpPr>
        <p:spPr>
          <a:xfrm>
            <a:off x="4937760" y="2596896"/>
            <a:ext cx="6309360" cy="356616"/>
          </a:xfrm>
          <a:prstGeom prst="roundRect">
            <a:avLst/>
          </a:prstGeom>
          <a:noFill/>
          <a:ln w="19050">
            <a:solidFill>
              <a:srgbClr val="C72647"/>
            </a:solidFill>
          </a:ln>
        </p:spPr>
        <p:txBody>
          <a:bodyPr wrap="square" lIns="73152" tIns="27432" rIns="73152" bIns="27432" anchor="ctr"/>
          <a:lstStyle/>
          <a:p>
            <a:pPr algn="l"/>
            <a:endParaRPr lang="zh-CN" sz="1200"/>
          </a:p>
        </p:txBody>
      </p:sp>
      <p:sp>
        <p:nvSpPr>
          <p:cNvPr id="30" name="xl.meta 高亮"/>
          <p:cNvSpPr/>
          <p:nvPr/>
        </p:nvSpPr>
        <p:spPr>
          <a:xfrm>
            <a:off x="4937760" y="3639312"/>
            <a:ext cx="1097280" cy="310896"/>
          </a:xfrm>
          <a:prstGeom prst="roundRect">
            <a:avLst/>
          </a:prstGeom>
          <a:noFill/>
          <a:ln w="19050">
            <a:solidFill>
              <a:srgbClr val="1396A3"/>
            </a:solidFill>
          </a:ln>
        </p:spPr>
        <p:txBody>
          <a:bodyPr wrap="square" lIns="73152" tIns="27432" rIns="73152" bIns="27432" anchor="ctr"/>
          <a:lstStyle/>
          <a:p>
            <a:pPr algn="l"/>
            <a:endParaRPr lang="zh-CN" sz="1200"/>
          </a:p>
        </p:txBody>
      </p:sp>
      <p:sp>
        <p:nvSpPr>
          <p:cNvPr id="31" name="标注 1 编号"/>
          <p:cNvSpPr/>
          <p:nvPr/>
        </p:nvSpPr>
        <p:spPr>
          <a:xfrm>
            <a:off x="4901184" y="4279392"/>
            <a:ext cx="274320" cy="274320"/>
          </a:xfrm>
          <a:prstGeom prst="roundRect">
            <a:avLst/>
          </a:prstGeom>
          <a:solidFill>
            <a:srgbClr val="C72647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1</a:t>
            </a:r>
            <a:endParaRPr lang="zh-CN" sz="800"/>
          </a:p>
        </p:txBody>
      </p:sp>
      <p:sp>
        <p:nvSpPr>
          <p:cNvPr id="32" name="标注 1"/>
          <p:cNvSpPr/>
          <p:nvPr/>
        </p:nvSpPr>
        <p:spPr>
          <a:xfrm>
            <a:off x="5230368" y="4224528"/>
            <a:ext cx="1847088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1000" b="1">
                <a:solidFill>
                  <a:srgbClr val="172033"/>
                </a:solidFill>
                <a:latin typeface="Noto Sans CJK SC" panose="020B0500000000000000" charset="-122"/>
                <a:ea typeface="Noto Sans CJK SC" panose="020B0500000000000000" charset="-122"/>
              </a:rPr>
              <a:t>路径映射</a:t>
            </a:r>
            <a:endParaRPr lang="zh-CN" sz="1200"/>
          </a:p>
          <a:p>
            <a:pPr algn="l"/>
            <a:r>
              <a:rPr lang="zh-CN" sz="850" b="0">
                <a:solidFill>
                  <a:srgbClr val="596575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evtvcr = Bucket</a:t>
            </a:r>
            <a:endParaRPr lang="zh-CN" sz="1200"/>
          </a:p>
          <a:p>
            <a:pPr algn="l"/>
            <a: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后续目录对应 Key 层级</a:t>
            </a:r>
            <a:b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</a:br>
            <a: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MinIO 为管理方便，直接在磁盘上按这个前缀建了多级目录</a:t>
            </a:r>
            <a:endParaRPr lang="zh-CN" sz="850">
              <a:solidFill>
                <a:srgbClr val="596575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3" name="标注分隔 1"/>
          <p:cNvSpPr/>
          <p:nvPr/>
        </p:nvSpPr>
        <p:spPr>
          <a:xfrm>
            <a:off x="7205472" y="4251960"/>
            <a:ext cx="0" cy="859536"/>
          </a:xfrm>
          <a:prstGeom prst="line">
            <a:avLst/>
          </a:prstGeom>
          <a:ln w="9000">
            <a:solidFill>
              <a:srgbClr val="DCE1E7"/>
            </a:solidFill>
          </a:ln>
        </p:spPr>
      </p:sp>
      <p:sp>
        <p:nvSpPr>
          <p:cNvPr id="34" name="标注 2 编号"/>
          <p:cNvSpPr/>
          <p:nvPr/>
        </p:nvSpPr>
        <p:spPr>
          <a:xfrm>
            <a:off x="7379208" y="4279392"/>
            <a:ext cx="274320" cy="274320"/>
          </a:xfrm>
          <a:prstGeom prst="roundRect">
            <a:avLst/>
          </a:prstGeom>
          <a:solidFill>
            <a:srgbClr val="1396A3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2</a:t>
            </a:r>
            <a:endParaRPr lang="zh-CN" sz="800"/>
          </a:p>
        </p:txBody>
      </p:sp>
      <p:sp>
        <p:nvSpPr>
          <p:cNvPr id="35" name="标注 2"/>
          <p:cNvSpPr/>
          <p:nvPr/>
        </p:nvSpPr>
        <p:spPr>
          <a:xfrm>
            <a:off x="7708392" y="4296283"/>
            <a:ext cx="1636776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1000" b="1">
                <a:solidFill>
                  <a:srgbClr val="172033"/>
                </a:solidFill>
                <a:latin typeface="Noto Sans Mono CJK SC" panose="020B0500000000000000" charset="-122"/>
                <a:ea typeface="Noto Sans Mono CJK SC" panose="020B0500000000000000" charset="-122"/>
              </a:rPr>
              <a:t>xl.meta</a:t>
            </a:r>
            <a:endParaRPr lang="zh-CN" sz="1200"/>
          </a:p>
          <a:p>
            <a:pPr algn="l"/>
            <a: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二进制文件、元数据、版本与纠删码信息</a:t>
            </a:r>
            <a:endParaRPr lang="zh-CN" sz="1200"/>
          </a:p>
          <a:p>
            <a:pPr algn="l"/>
            <a:r>
              <a:rPr lang="zh-CN" sz="850" b="1">
                <a:solidFill>
                  <a:srgbClr val="C72647"/>
                </a:solidFill>
                <a:latin typeface="Noto Sans CJK SC" panose="020B0500000000000000" charset="-122"/>
                <a:ea typeface="Noto Sans CJK SC" panose="020B0500000000000000" charset="-122"/>
              </a:rPr>
              <a:t>它不是原文件</a:t>
            </a:r>
            <a:endParaRPr lang="zh-CN" sz="850" b="1">
              <a:solidFill>
                <a:srgbClr val="C72647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l"/>
            <a:endParaRPr lang="zh-CN" sz="850" b="1">
              <a:solidFill>
                <a:srgbClr val="C72647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l"/>
            <a:endParaRPr lang="zh-CN" sz="1200"/>
          </a:p>
        </p:txBody>
      </p:sp>
      <p:sp>
        <p:nvSpPr>
          <p:cNvPr id="36" name="标注分隔 2"/>
          <p:cNvSpPr/>
          <p:nvPr/>
        </p:nvSpPr>
        <p:spPr>
          <a:xfrm>
            <a:off x="9491472" y="4251960"/>
            <a:ext cx="0" cy="859536"/>
          </a:xfrm>
          <a:prstGeom prst="line">
            <a:avLst/>
          </a:prstGeom>
          <a:ln w="9000">
            <a:solidFill>
              <a:srgbClr val="DCE1E7"/>
            </a:solidFill>
          </a:ln>
        </p:spPr>
      </p:sp>
      <p:sp>
        <p:nvSpPr>
          <p:cNvPr id="37" name="标注 3 编号"/>
          <p:cNvSpPr/>
          <p:nvPr/>
        </p:nvSpPr>
        <p:spPr>
          <a:xfrm>
            <a:off x="9674352" y="4279392"/>
            <a:ext cx="274320" cy="274320"/>
          </a:xfrm>
          <a:prstGeom prst="roundRect">
            <a:avLst/>
          </a:prstGeom>
          <a:solidFill>
            <a:srgbClr val="14233F"/>
          </a:solidFill>
          <a:ln>
            <a:noFill/>
          </a:ln>
        </p:spPr>
        <p:txBody>
          <a:bodyPr wrap="square" lIns="0" tIns="27432" rIns="0" bIns="2743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3</a:t>
            </a:r>
            <a:endParaRPr lang="zh-CN" sz="800"/>
          </a:p>
        </p:txBody>
      </p:sp>
      <p:sp>
        <p:nvSpPr>
          <p:cNvPr id="38" name="标注 3"/>
          <p:cNvSpPr/>
          <p:nvPr/>
        </p:nvSpPr>
        <p:spPr>
          <a:xfrm>
            <a:off x="10003536" y="4224528"/>
            <a:ext cx="1353312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1000" b="1">
                <a:solidFill>
                  <a:srgbClr val="172033"/>
                </a:solidFill>
                <a:latin typeface="Noto Sans CJK SC" panose="020B0500000000000000" charset="-122"/>
                <a:ea typeface="Noto Sans CJK SC" panose="020B0500000000000000" charset="-122"/>
              </a:rPr>
              <a:t>数据分片</a:t>
            </a:r>
            <a:endParaRPr lang="zh-CN" sz="1200"/>
          </a:p>
          <a:p>
            <a:pPr algn="l"/>
            <a: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二进制内容按部署模式</a:t>
            </a:r>
            <a:endParaRPr lang="zh-CN" sz="1200"/>
          </a:p>
          <a:p>
            <a:pPr algn="l"/>
            <a:r>
              <a:rPr 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分散保存并支持容错</a:t>
            </a:r>
            <a:r>
              <a:rPr lang="en-US" altLang="zh-CN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 xl.meta </a:t>
            </a:r>
            <a:r>
              <a:rPr lang="zh-CN" altLang="en-US" sz="850" b="0">
                <a:solidFill>
                  <a:srgbClr val="596575"/>
                </a:solidFill>
                <a:latin typeface="Noto Sans CJK SC" panose="020B0500000000000000" charset="-122"/>
                <a:ea typeface="Noto Sans CJK SC" panose="020B0500000000000000" charset="-122"/>
              </a:rPr>
              <a:t>整合</a:t>
            </a:r>
            <a:endParaRPr lang="zh-CN" altLang="en-US" sz="850" b="0">
              <a:solidFill>
                <a:srgbClr val="596575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l"/>
            <a:endParaRPr lang="zh-CN" altLang="en-US" sz="850" b="0">
              <a:solidFill>
                <a:srgbClr val="596575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9" name="结论栏"/>
          <p:cNvSpPr/>
          <p:nvPr/>
        </p:nvSpPr>
        <p:spPr>
          <a:xfrm>
            <a:off x="694944" y="5605272"/>
            <a:ext cx="10844784" cy="603504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txBody>
          <a:bodyPr wrap="square" lIns="210312" tIns="27432" rIns="164592" bIns="27432" anchor="ctr"/>
          <a:lstStyle/>
          <a:p>
            <a:pPr algn="ctr"/>
            <a:r>
              <a:rPr lang="zh-CN" sz="1050" b="0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xl.meta 是对象的“组装说明书”，不是文件本身；不要</a:t>
            </a:r>
            <a:r>
              <a:rPr lang="zh-CN" sz="105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直接修改或删除底层目录</a:t>
            </a:r>
            <a:r>
              <a:rPr lang="zh-CN" sz="1050" b="0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</a:rPr>
              <a:t>，可使用 MinIO 控制台、API 或 SDK作相关操作。</a:t>
            </a:r>
            <a:endParaRPr lang="zh-CN" sz="1050"/>
          </a:p>
        </p:txBody>
      </p:sp>
      <p:sp>
        <p:nvSpPr>
          <p:cNvPr id="40" name="页脚左"/>
          <p:cNvSpPr/>
          <p:nvPr/>
        </p:nvSpPr>
        <p:spPr>
          <a:xfrm>
            <a:off x="576072" y="651052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l"/>
            <a:r>
              <a:rPr lang="zh-CN" sz="750" b="0">
                <a:solidFill>
                  <a:srgbClr val="77808C"/>
                </a:solidFill>
                <a:latin typeface="Noto Sans CJK SC" panose="020B0500000000000000" charset="-122"/>
                <a:ea typeface="Noto Sans CJK SC" panose="020B0500000000000000" charset="-122"/>
              </a:rPr>
              <a:t>MinIO 入门与实践</a:t>
            </a:r>
            <a:endParaRPr lang="zh-CN" sz="750"/>
          </a:p>
        </p:txBody>
      </p:sp>
      <p:sp>
        <p:nvSpPr>
          <p:cNvPr id="41" name="页脚右"/>
          <p:cNvSpPr/>
          <p:nvPr/>
        </p:nvSpPr>
        <p:spPr>
          <a:xfrm>
            <a:off x="8796528" y="6510528"/>
            <a:ext cx="272491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27432" rIns="0" bIns="27432" anchor="ctr"/>
          <a:lstStyle/>
          <a:p>
            <a:pPr algn="r"/>
            <a:r>
              <a:rPr lang="zh-CN" sz="750" b="0">
                <a:solidFill>
                  <a:srgbClr val="77808C"/>
                </a:solidFill>
                <a:latin typeface="Noto Sans CJK SC" panose="020B0500000000000000" charset="-122"/>
                <a:ea typeface="Noto Sans CJK SC" panose="020B0500000000000000" charset="-122"/>
              </a:rPr>
              <a:t>2026.09</a:t>
            </a:r>
            <a:endParaRPr lang="zh-CN" sz="750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755" y="116205"/>
            <a:ext cx="5711190" cy="402399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" y="35560"/>
            <a:ext cx="6022975" cy="4243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矩形 194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196" name="文本框 195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198" name="文本框 197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200" name="文本框 199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Go Demo</a:t>
            </a:r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：客户端、业务服务与 </a:t>
            </a:r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MinIO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2" name="直接连接符 201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03" name="文本框 202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06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612000" y="1728000"/>
            <a:ext cx="10944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Demo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拆成两个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Go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进程：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CLI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管理本地录像，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HTTP Server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独占永久密钥并调用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S3 API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。</a:t>
            </a:r>
            <a:endParaRPr lang="en-US" sz="11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612000" y="2412000"/>
            <a:ext cx="2592000" cy="154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C72C48"/>
            </a:solidFill>
            <a:round/>
          </a:ln>
        </p:spPr>
      </p:sp>
      <p:sp>
        <p:nvSpPr>
          <p:cNvPr id="206" name="文本框 205"/>
          <p:cNvSpPr txBox="1"/>
          <p:nvPr/>
        </p:nvSpPr>
        <p:spPr>
          <a:xfrm>
            <a:off x="756000" y="2592000"/>
            <a:ext cx="2304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Go CLI</a:t>
            </a:r>
            <a:endParaRPr lang="en-US" sz="1600" b="1" strike="noStrike" spc="-1">
              <a:solidFill>
                <a:srgbClr val="C72C4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756000" y="3204000"/>
            <a:ext cx="2304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client/main.go</a:t>
            </a:r>
            <a:endParaRPr lang="en-US" sz="9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r>
              <a:rPr lang="zh-CN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本地目录 </a:t>
            </a:r>
            <a:r>
              <a:rPr lang="en-US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+ </a:t>
            </a:r>
            <a:r>
              <a:rPr lang="zh-CN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交互菜单</a:t>
            </a:r>
            <a:endParaRPr lang="en-US" sz="9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4536000" y="2412000"/>
            <a:ext cx="3096000" cy="154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07879B"/>
            </a:solidFill>
            <a:round/>
          </a:ln>
        </p:spPr>
      </p:sp>
      <p:sp>
        <p:nvSpPr>
          <p:cNvPr id="209" name="文本框 208"/>
          <p:cNvSpPr txBox="1"/>
          <p:nvPr/>
        </p:nvSpPr>
        <p:spPr>
          <a:xfrm>
            <a:off x="4680000" y="2592000"/>
            <a:ext cx="2808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Go HTTP Server</a:t>
            </a:r>
            <a:endParaRPr lang="en-US" sz="1600" b="1" strike="noStrike" spc="-1">
              <a:solidFill>
                <a:srgbClr val="07879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4680000" y="3204000"/>
            <a:ext cx="2808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server/main.go  ·  :9097</a:t>
            </a:r>
            <a:endParaRPr lang="en-US" sz="9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r>
              <a:rPr lang="zh-CN" altLang="en-US" sz="900" b="0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设置</a:t>
            </a:r>
            <a:r>
              <a:rPr lang="en-US" altLang="zh-CN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</a:t>
            </a:r>
            <a:r>
              <a:rPr lang="zh-CN" altLang="en-US" sz="900" b="0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地址、</a:t>
            </a:r>
            <a:r>
              <a:rPr lang="en-US" altLang="zh-CN" sz="900" b="0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accessKey</a:t>
            </a:r>
            <a:r>
              <a:rPr lang="zh-CN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、</a:t>
            </a:r>
            <a:r>
              <a:rPr lang="en-US" altLang="zh-CN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secretKey</a:t>
            </a:r>
            <a:endParaRPr lang="en-US" sz="9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11" name="矩形 210"/>
          <p:cNvSpPr/>
          <p:nvPr/>
        </p:nvSpPr>
        <p:spPr>
          <a:xfrm>
            <a:off x="8928000" y="2412000"/>
            <a:ext cx="2592000" cy="154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172033"/>
            </a:solidFill>
            <a:round/>
          </a:ln>
        </p:spPr>
      </p:sp>
      <p:sp>
        <p:nvSpPr>
          <p:cNvPr id="212" name="文本框 211"/>
          <p:cNvSpPr txBox="1"/>
          <p:nvPr/>
        </p:nvSpPr>
        <p:spPr>
          <a:xfrm>
            <a:off x="9072000" y="2592000"/>
            <a:ext cx="2304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MinIO</a:t>
            </a:r>
            <a:endParaRPr lang="en-US" sz="16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9072000" y="3204000"/>
            <a:ext cx="2304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S3 API  ·  :9000</a:t>
            </a:r>
            <a:endParaRPr lang="en-US" sz="9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r>
              <a:rPr lang="en-US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evtvcr </a:t>
            </a:r>
            <a:r>
              <a:rPr lang="zh-CN" sz="9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对象数据</a:t>
            </a:r>
            <a:endParaRPr lang="en-US" sz="9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14" name="直接连接符 213"/>
          <p:cNvSpPr/>
          <p:nvPr/>
        </p:nvSpPr>
        <p:spPr>
          <a:xfrm>
            <a:off x="3240000" y="3168000"/>
            <a:ext cx="1224000" cy="0"/>
          </a:xfrm>
          <a:prstGeom prst="line">
            <a:avLst/>
          </a:prstGeom>
          <a:ln w="36000">
            <a:solidFill>
              <a:srgbClr val="C72C4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15" name="文本框 214"/>
          <p:cNvSpPr txBox="1"/>
          <p:nvPr/>
        </p:nvSpPr>
        <p:spPr>
          <a:xfrm>
            <a:off x="3456000" y="2843755"/>
            <a:ext cx="756000" cy="21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C72C48"/>
                </a:solidFill>
                <a:latin typeface="Noto Sans Mono CJK SC" panose="020B0500000000000000" charset="-122"/>
              </a:rPr>
              <a:t>HTTP</a:t>
            </a:r>
            <a:endParaRPr lang="en-US" sz="1000" b="1" strike="noStrike" spc="-1">
              <a:solidFill>
                <a:srgbClr val="C72C48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16" name="直接连接符 215"/>
          <p:cNvSpPr/>
          <p:nvPr/>
        </p:nvSpPr>
        <p:spPr>
          <a:xfrm>
            <a:off x="7668000" y="3168000"/>
            <a:ext cx="1188000" cy="0"/>
          </a:xfrm>
          <a:prstGeom prst="line">
            <a:avLst/>
          </a:prstGeom>
          <a:ln w="36000">
            <a:solidFill>
              <a:srgbClr val="07879B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17" name="文本框 216"/>
          <p:cNvSpPr txBox="1"/>
          <p:nvPr/>
        </p:nvSpPr>
        <p:spPr>
          <a:xfrm>
            <a:off x="7704245" y="2843755"/>
            <a:ext cx="972000" cy="21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aws-sdk-go-v2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612000" y="4284000"/>
            <a:ext cx="3420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业务服务公开的接口</a:t>
            </a:r>
            <a:endParaRPr lang="en-US" sz="12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612000" y="4752000"/>
            <a:ext cx="5328000" cy="324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220" name="文本框 219"/>
          <p:cNvSpPr txBox="1"/>
          <p:nvPr/>
        </p:nvSpPr>
        <p:spPr>
          <a:xfrm>
            <a:off x="756000" y="4752000"/>
            <a:ext cx="5040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/upload  /download  /list  /delete</a:t>
            </a:r>
            <a:endParaRPr lang="en-US" sz="9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612000" y="5148000"/>
            <a:ext cx="5328000" cy="324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222" name="文本框 221"/>
          <p:cNvSpPr txBox="1"/>
          <p:nvPr/>
        </p:nvSpPr>
        <p:spPr>
          <a:xfrm>
            <a:off x="756000" y="5148000"/>
            <a:ext cx="5040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/presign</a:t>
            </a:r>
            <a:endParaRPr lang="en-US" sz="9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612000" y="5544000"/>
            <a:ext cx="5328000" cy="324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224" name="文本框 223"/>
          <p:cNvSpPr txBox="1"/>
          <p:nvPr/>
        </p:nvSpPr>
        <p:spPr>
          <a:xfrm>
            <a:off x="756000" y="5544000"/>
            <a:ext cx="5040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/multipart/init  </a:t>
            </a:r>
            <a:r>
              <a:rPr lang="en-US" sz="900" b="1" spc="-1">
                <a:solidFill>
                  <a:srgbClr val="172033"/>
                </a:solidFill>
                <a:latin typeface="Noto Sans Mono CJK SC" panose="020B0500000000000000" charset="-122"/>
                <a:sym typeface="+mn-ea"/>
              </a:rPr>
              <a:t>/multipart</a:t>
            </a:r>
            <a:r>
              <a:rPr lang="en-US" sz="9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/complete  </a:t>
            </a:r>
            <a:r>
              <a:rPr lang="en-US" sz="900" b="1" spc="-1">
                <a:solidFill>
                  <a:srgbClr val="172033"/>
                </a:solidFill>
                <a:latin typeface="Noto Sans Mono CJK SC" panose="020B0500000000000000" charset="-122"/>
                <a:sym typeface="+mn-ea"/>
              </a:rPr>
              <a:t>/multipart</a:t>
            </a:r>
            <a:r>
              <a:rPr lang="en-US" sz="9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/abort</a:t>
            </a:r>
            <a:endParaRPr lang="en-US" sz="9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6516000" y="4284000"/>
            <a:ext cx="2880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两种数据通路</a:t>
            </a:r>
            <a:endParaRPr lang="en-US" sz="12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6516000" y="4752000"/>
            <a:ext cx="1872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227" name="文本框 226"/>
          <p:cNvSpPr txBox="1"/>
          <p:nvPr/>
        </p:nvSpPr>
        <p:spPr>
          <a:xfrm>
            <a:off x="6516000" y="4752000"/>
            <a:ext cx="187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经业务服务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8568000" y="4752000"/>
            <a:ext cx="2880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CLI → :9097 → MinIO</a:t>
            </a:r>
            <a:endParaRPr lang="en-US" sz="900" b="0" strike="noStrike" spc="-1">
              <a:solidFill>
                <a:srgbClr val="64748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6516000" y="5220000"/>
            <a:ext cx="1872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230" name="文本框 229"/>
          <p:cNvSpPr txBox="1"/>
          <p:nvPr/>
        </p:nvSpPr>
        <p:spPr>
          <a:xfrm>
            <a:off x="6516000" y="5220000"/>
            <a:ext cx="187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预签名直传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568000" y="5220000"/>
            <a:ext cx="2880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CLI </a:t>
            </a:r>
            <a:r>
              <a:rPr lang="zh-CN" sz="9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取 </a:t>
            </a:r>
            <a:r>
              <a:rPr lang="en-US" sz="900" b="0" strike="noStrike" spc="-1">
                <a:solidFill>
                  <a:srgbClr val="64748B"/>
                </a:solidFill>
                <a:latin typeface="Noto Sans Mono CJK SC" panose="020B0500000000000000" charset="-122"/>
              </a:rPr>
              <a:t>URL → :9000</a:t>
            </a:r>
            <a:endParaRPr lang="en-US" sz="900" b="0" strike="noStrike" spc="-1">
              <a:solidFill>
                <a:srgbClr val="64748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612000" y="6048000"/>
            <a:ext cx="10908000" cy="288000"/>
          </a:xfrm>
          <a:prstGeom prst="rect">
            <a:avLst/>
          </a:prstGeom>
          <a:solidFill>
            <a:srgbClr val="FFF5CF"/>
          </a:solidFill>
          <a:ln w="0">
            <a:noFill/>
          </a:ln>
        </p:spPr>
      </p:sp>
      <p:sp>
        <p:nvSpPr>
          <p:cNvPr id="233" name="文本框 232"/>
          <p:cNvSpPr txBox="1"/>
          <p:nvPr/>
        </p:nvSpPr>
        <p:spPr>
          <a:xfrm>
            <a:off x="756000" y="6048000"/>
            <a:ext cx="10620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alt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MinIO</a:t>
            </a:r>
            <a:r>
              <a:rPr lang="zh-CN" altLang="en-US" sz="950" b="1" strike="noStrike" spc="-1">
                <a:solidFill>
                  <a:srgbClr val="172033"/>
                </a:solidFill>
                <a:latin typeface="Noto Sans CJK SC" panose="020B0500000000000000" charset="-122"/>
                <a:ea typeface="宋体" charset="0"/>
              </a:rPr>
              <a:t>的用户名和密码存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在 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Go Server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；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CLI 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使用业务接口或限时 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URL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。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0056495" y="2592705"/>
            <a:ext cx="1296035" cy="6229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10" name="文本框 309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312" name="文本框 311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14" name="文本框 313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15" name="文本框 314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两条传输路径与上传决策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16" name="直接连接符 315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17" name="文本框 316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09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612000" y="1728000"/>
            <a:ext cx="10944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同一对象标识支持“经业务服务传输”和“拿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URL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后直连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MinIO”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两种路径。</a:t>
            </a:r>
            <a:endParaRPr lang="en-US" sz="11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19" name="矩形 318"/>
          <p:cNvSpPr/>
          <p:nvPr/>
        </p:nvSpPr>
        <p:spPr>
          <a:xfrm>
            <a:off x="648000" y="2340000"/>
            <a:ext cx="1512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320" name="文本框 319"/>
          <p:cNvSpPr txBox="1"/>
          <p:nvPr/>
        </p:nvSpPr>
        <p:spPr>
          <a:xfrm>
            <a:off x="648000" y="2340000"/>
            <a:ext cx="151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DIRECT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2592000" y="2304000"/>
            <a:ext cx="1224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CLI</a:t>
            </a:r>
            <a:endParaRPr lang="en-US" sz="12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22" name="直接连接符 321"/>
          <p:cNvSpPr/>
          <p:nvPr/>
        </p:nvSpPr>
        <p:spPr>
          <a:xfrm>
            <a:off x="3816000" y="2520000"/>
            <a:ext cx="1620000" cy="0"/>
          </a:xfrm>
          <a:prstGeom prst="line">
            <a:avLst/>
          </a:prstGeom>
          <a:ln w="36000">
            <a:solidFill>
              <a:srgbClr val="C72C4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23" name="文本框 322"/>
          <p:cNvSpPr txBox="1"/>
          <p:nvPr/>
        </p:nvSpPr>
        <p:spPr>
          <a:xfrm>
            <a:off x="4068000" y="2160000"/>
            <a:ext cx="1116000" cy="21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8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文件字节</a:t>
            </a:r>
            <a:endParaRPr lang="en-US" sz="800" b="1" strike="noStrike" spc="-1">
              <a:solidFill>
                <a:srgbClr val="C72C4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5544000" y="2304000"/>
            <a:ext cx="2628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Go Server :9097</a:t>
            </a:r>
            <a:endParaRPr lang="en-US" sz="12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25" name="直接连接符 324"/>
          <p:cNvSpPr/>
          <p:nvPr/>
        </p:nvSpPr>
        <p:spPr>
          <a:xfrm>
            <a:off x="8208000" y="2520000"/>
            <a:ext cx="1584000" cy="0"/>
          </a:xfrm>
          <a:prstGeom prst="line">
            <a:avLst/>
          </a:prstGeom>
          <a:ln w="36000">
            <a:solidFill>
              <a:srgbClr val="C72C4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26" name="文本框 325"/>
          <p:cNvSpPr txBox="1"/>
          <p:nvPr/>
        </p:nvSpPr>
        <p:spPr>
          <a:xfrm>
            <a:off x="8604000" y="2160000"/>
            <a:ext cx="792000" cy="21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C72C48"/>
                </a:solidFill>
                <a:latin typeface="Noto Sans Mono CJK SC" panose="020B0500000000000000" charset="-122"/>
              </a:rPr>
              <a:t>SDK</a:t>
            </a:r>
            <a:endParaRPr lang="en-US" sz="800" b="1" strike="noStrike" spc="-1">
              <a:solidFill>
                <a:srgbClr val="C72C48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28" name="矩形 327"/>
          <p:cNvSpPr/>
          <p:nvPr/>
        </p:nvSpPr>
        <p:spPr>
          <a:xfrm>
            <a:off x="648000" y="3312000"/>
            <a:ext cx="1512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329" name="文本框 328"/>
          <p:cNvSpPr txBox="1"/>
          <p:nvPr/>
        </p:nvSpPr>
        <p:spPr>
          <a:xfrm>
            <a:off x="648000" y="3312000"/>
            <a:ext cx="151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PRESIGNED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2592000" y="3276000"/>
            <a:ext cx="1224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CLI</a:t>
            </a:r>
            <a:endParaRPr lang="en-US" sz="12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31" name="直接连接符 330"/>
          <p:cNvSpPr/>
          <p:nvPr/>
        </p:nvSpPr>
        <p:spPr>
          <a:xfrm>
            <a:off x="3816000" y="3492000"/>
            <a:ext cx="1620000" cy="0"/>
          </a:xfrm>
          <a:prstGeom prst="line">
            <a:avLst/>
          </a:prstGeom>
          <a:ln w="36000">
            <a:solidFill>
              <a:srgbClr val="07879B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2" name="文本框 331"/>
          <p:cNvSpPr txBox="1"/>
          <p:nvPr/>
        </p:nvSpPr>
        <p:spPr>
          <a:xfrm>
            <a:off x="3626485" y="3131820"/>
            <a:ext cx="2015490" cy="2197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8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对象三元组（Bucket + Key + </a:t>
            </a:r>
            <a:r>
              <a:rPr lang="en-US" altLang="zh-CN" sz="8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put/get</a:t>
            </a:r>
            <a:r>
              <a:rPr lang="zh-CN" sz="8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）</a:t>
            </a:r>
            <a:endParaRPr lang="en-US" sz="800" b="1" strike="noStrike" spc="-1">
              <a:solidFill>
                <a:srgbClr val="07879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33" name="文本框 332"/>
          <p:cNvSpPr txBox="1"/>
          <p:nvPr/>
        </p:nvSpPr>
        <p:spPr>
          <a:xfrm>
            <a:off x="5544000" y="3276000"/>
            <a:ext cx="2628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Go Server :9097</a:t>
            </a:r>
            <a:endParaRPr lang="en-US" sz="12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34" name="直接连接符 333"/>
          <p:cNvSpPr/>
          <p:nvPr/>
        </p:nvSpPr>
        <p:spPr>
          <a:xfrm>
            <a:off x="8172000" y="3492000"/>
            <a:ext cx="1620000" cy="0"/>
          </a:xfrm>
          <a:prstGeom prst="line">
            <a:avLst/>
          </a:prstGeom>
          <a:ln w="36000">
            <a:solidFill>
              <a:srgbClr val="07879B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5" name="文本框 334"/>
          <p:cNvSpPr txBox="1"/>
          <p:nvPr/>
        </p:nvSpPr>
        <p:spPr>
          <a:xfrm>
            <a:off x="8460000" y="3132000"/>
            <a:ext cx="1080000" cy="21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8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返回 </a:t>
            </a:r>
            <a:r>
              <a:rPr lang="en-US" sz="8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URL</a:t>
            </a:r>
            <a:endParaRPr lang="en-US" sz="800" b="1" strike="noStrike" spc="-1">
              <a:solidFill>
                <a:srgbClr val="07879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2207895" y="2807970"/>
            <a:ext cx="2161540" cy="29146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CLI → MinIO :9000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648000" y="4500000"/>
            <a:ext cx="3780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预签名上传的分支</a:t>
            </a:r>
            <a:endParaRPr lang="en-US" sz="12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648000" y="4968000"/>
            <a:ext cx="6444000" cy="1116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339" name="矩形 338"/>
          <p:cNvSpPr/>
          <p:nvPr/>
        </p:nvSpPr>
        <p:spPr>
          <a:xfrm>
            <a:off x="900000" y="5220000"/>
            <a:ext cx="1476000" cy="288000"/>
          </a:xfrm>
          <a:prstGeom prst="rect">
            <a:avLst/>
          </a:prstGeom>
          <a:solidFill>
            <a:srgbClr val="16865C"/>
          </a:solidFill>
          <a:ln w="0">
            <a:noFill/>
          </a:ln>
        </p:spPr>
      </p:sp>
      <p:sp>
        <p:nvSpPr>
          <p:cNvPr id="340" name="文本框 339"/>
          <p:cNvSpPr txBox="1"/>
          <p:nvPr/>
        </p:nvSpPr>
        <p:spPr>
          <a:xfrm>
            <a:off x="900000" y="5220000"/>
            <a:ext cx="14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≤ </a:t>
            </a:r>
            <a:r>
              <a:rPr lang="en-US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2 MB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2556000" y="5220000"/>
            <a:ext cx="298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单次 </a:t>
            </a:r>
            <a:r>
              <a:rPr lang="en-US" sz="95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PresignPutObject</a:t>
            </a:r>
            <a:endParaRPr lang="en-US" sz="95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900000" y="5652000"/>
            <a:ext cx="1476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343" name="文本框 342"/>
          <p:cNvSpPr txBox="1"/>
          <p:nvPr/>
        </p:nvSpPr>
        <p:spPr>
          <a:xfrm>
            <a:off x="900000" y="5652000"/>
            <a:ext cx="14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&gt; 2 MB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2556000" y="5652000"/>
            <a:ext cx="302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5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Multipart · 5 MB/part</a:t>
            </a:r>
            <a:endParaRPr lang="en-US" sz="95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49" name="文本框 348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3435" y="3741420"/>
            <a:ext cx="4904105" cy="29419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70490" y="2736215"/>
            <a:ext cx="812165" cy="318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 b="1" spc="-1">
                <a:ln>
                  <a:noFill/>
                </a:ln>
                <a:solidFill>
                  <a:srgbClr val="172033"/>
                </a:solidFill>
                <a:latin typeface="Noto Sans Mono CJK SC" panose="020B0500000000000000" charset="-122"/>
                <a:sym typeface="+mn-ea"/>
              </a:rPr>
              <a:t>MinIO</a:t>
            </a:r>
            <a:endParaRPr lang="en-US" altLang="en-US" sz="1400" b="1" spc="-1">
              <a:ln>
                <a:noFill/>
              </a:ln>
              <a:solidFill>
                <a:srgbClr val="172033"/>
              </a:solidFill>
              <a:latin typeface="Noto Sans Mono CJK SC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350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52" name="文本框 351"/>
          <p:cNvSpPr txBox="1"/>
          <p:nvPr/>
        </p:nvSpPr>
        <p:spPr>
          <a:xfrm>
            <a:off x="828040" y="251460"/>
            <a:ext cx="1035685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3" name="矩形 352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354" name="文本框 353"/>
          <p:cNvSpPr txBox="1"/>
          <p:nvPr/>
        </p:nvSpPr>
        <p:spPr>
          <a:xfrm>
            <a:off x="2527300" y="287655"/>
            <a:ext cx="1138555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5" name="矩形 354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56" name="文本框 355"/>
          <p:cNvSpPr txBox="1"/>
          <p:nvPr/>
        </p:nvSpPr>
        <p:spPr>
          <a:xfrm>
            <a:off x="4296410" y="251460"/>
            <a:ext cx="1026160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7" name="文本框 356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预签名 </a:t>
            </a:r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URL</a:t>
            </a:r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：参数到对象路径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8" name="直接连接符 357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59" name="文本框 358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10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576000" y="1728000"/>
            <a:ext cx="10944000" cy="39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CLI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上传摄像头与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session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信息，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Server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组装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key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后签发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10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分钟有效的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GET / PUT URL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。</a:t>
            </a:r>
            <a:endParaRPr lang="en-US" sz="11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1" name="矩形 360"/>
          <p:cNvSpPr/>
          <p:nvPr/>
        </p:nvSpPr>
        <p:spPr>
          <a:xfrm>
            <a:off x="684000" y="2520000"/>
            <a:ext cx="2700000" cy="136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C72C48"/>
            </a:solidFill>
            <a:round/>
          </a:ln>
        </p:spPr>
      </p:sp>
      <p:sp>
        <p:nvSpPr>
          <p:cNvPr id="362" name="文本框 361"/>
          <p:cNvSpPr txBox="1"/>
          <p:nvPr/>
        </p:nvSpPr>
        <p:spPr>
          <a:xfrm>
            <a:off x="828000" y="2700000"/>
            <a:ext cx="2412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1 · </a:t>
            </a:r>
            <a:r>
              <a:rPr lang="zh-CN" sz="16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申请</a:t>
            </a:r>
            <a:endParaRPr lang="en-US" sz="1600" b="1" strike="noStrike" spc="-1">
              <a:solidFill>
                <a:srgbClr val="C72C4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828000" y="3312000"/>
            <a:ext cx="2412000" cy="4237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CLI → Server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提交三元组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4" name="矩形 363"/>
          <p:cNvSpPr/>
          <p:nvPr/>
        </p:nvSpPr>
        <p:spPr>
          <a:xfrm>
            <a:off x="4752000" y="2520000"/>
            <a:ext cx="2700000" cy="136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07879B"/>
            </a:solidFill>
            <a:round/>
          </a:ln>
        </p:spPr>
      </p:sp>
      <p:sp>
        <p:nvSpPr>
          <p:cNvPr id="365" name="文本框 364"/>
          <p:cNvSpPr txBox="1"/>
          <p:nvPr/>
        </p:nvSpPr>
        <p:spPr>
          <a:xfrm>
            <a:off x="4896000" y="2700000"/>
            <a:ext cx="2412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2 · </a:t>
            </a:r>
            <a:r>
              <a:rPr lang="zh-CN" sz="1600" b="1" strike="noStrike" spc="-1">
                <a:solidFill>
                  <a:srgbClr val="07879B"/>
                </a:solidFill>
                <a:latin typeface="Noto Sans CJK SC" panose="020B0500000000000000" charset="-122"/>
              </a:rPr>
              <a:t>签发</a:t>
            </a:r>
            <a:endParaRPr lang="en-US" sz="1600" b="1" strike="noStrike" spc="-1">
              <a:solidFill>
                <a:srgbClr val="07879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6" name="文本框 365"/>
          <p:cNvSpPr txBox="1"/>
          <p:nvPr/>
        </p:nvSpPr>
        <p:spPr>
          <a:xfrm>
            <a:off x="4896000" y="3312000"/>
            <a:ext cx="2412000" cy="4237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Server → CLI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返回限时 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URL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8820000" y="2520000"/>
            <a:ext cx="2700000" cy="136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172033"/>
            </a:solidFill>
            <a:round/>
          </a:ln>
        </p:spPr>
      </p:sp>
      <p:sp>
        <p:nvSpPr>
          <p:cNvPr id="368" name="文本框 367"/>
          <p:cNvSpPr txBox="1"/>
          <p:nvPr/>
        </p:nvSpPr>
        <p:spPr>
          <a:xfrm>
            <a:off x="8964000" y="2700000"/>
            <a:ext cx="2412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3 · </a:t>
            </a:r>
            <a:r>
              <a:rPr lang="zh-CN" sz="16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使用</a:t>
            </a:r>
            <a:endParaRPr lang="en-US" sz="16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9" name="文本框 368"/>
          <p:cNvSpPr txBox="1"/>
          <p:nvPr/>
        </p:nvSpPr>
        <p:spPr>
          <a:xfrm>
            <a:off x="8964000" y="3312000"/>
            <a:ext cx="2412000" cy="4237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CLI → MinIO :9000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PUT / GET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70" name="直接连接符 369"/>
          <p:cNvSpPr/>
          <p:nvPr/>
        </p:nvSpPr>
        <p:spPr>
          <a:xfrm>
            <a:off x="3420000" y="3204000"/>
            <a:ext cx="1260000" cy="0"/>
          </a:xfrm>
          <a:prstGeom prst="line">
            <a:avLst/>
          </a:prstGeom>
          <a:ln w="36000">
            <a:solidFill>
              <a:srgbClr val="C72C4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1" name="文本框 370"/>
          <p:cNvSpPr txBox="1"/>
          <p:nvPr/>
        </p:nvSpPr>
        <p:spPr>
          <a:xfrm>
            <a:off x="3708000" y="2808000"/>
            <a:ext cx="720000" cy="2239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900" b="1" strike="noStrike" spc="-1">
                <a:solidFill>
                  <a:srgbClr val="C72C48"/>
                </a:solidFill>
                <a:latin typeface="Noto Sans CJK SC" panose="020B0500000000000000" charset="-122"/>
              </a:rPr>
              <a:t>三元组</a:t>
            </a:r>
            <a:endParaRPr lang="en-US" sz="900" b="1" strike="noStrike" spc="-1">
              <a:solidFill>
                <a:srgbClr val="C72C48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72" name="直接连接符 371"/>
          <p:cNvSpPr/>
          <p:nvPr/>
        </p:nvSpPr>
        <p:spPr>
          <a:xfrm>
            <a:off x="7488000" y="3204000"/>
            <a:ext cx="1260000" cy="0"/>
          </a:xfrm>
          <a:prstGeom prst="line">
            <a:avLst/>
          </a:prstGeom>
          <a:ln w="36000">
            <a:solidFill>
              <a:srgbClr val="07879B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3" name="文本框 372"/>
          <p:cNvSpPr txBox="1"/>
          <p:nvPr/>
        </p:nvSpPr>
        <p:spPr>
          <a:xfrm>
            <a:off x="7560000" y="2808000"/>
            <a:ext cx="1152000" cy="21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SIGNED URL</a:t>
            </a:r>
            <a:endParaRPr lang="en-US" sz="8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74" name="矩形 373"/>
          <p:cNvSpPr/>
          <p:nvPr/>
        </p:nvSpPr>
        <p:spPr>
          <a:xfrm>
            <a:off x="1368000" y="4104000"/>
            <a:ext cx="2808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375" name="文本框 374"/>
          <p:cNvSpPr txBox="1"/>
          <p:nvPr/>
        </p:nvSpPr>
        <p:spPr>
          <a:xfrm>
            <a:off x="1368000" y="4104000"/>
            <a:ext cx="280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限定对象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76" name="矩形 375"/>
          <p:cNvSpPr/>
          <p:nvPr/>
        </p:nvSpPr>
        <p:spPr>
          <a:xfrm>
            <a:off x="4644000" y="4104000"/>
            <a:ext cx="2808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377" name="文本框 376"/>
          <p:cNvSpPr txBox="1"/>
          <p:nvPr/>
        </p:nvSpPr>
        <p:spPr>
          <a:xfrm>
            <a:off x="4644000" y="4104000"/>
            <a:ext cx="280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限定 </a:t>
            </a:r>
            <a:r>
              <a:rPr lang="en-US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GET / PUT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78" name="矩形 377"/>
          <p:cNvSpPr/>
          <p:nvPr/>
        </p:nvSpPr>
        <p:spPr>
          <a:xfrm>
            <a:off x="7920000" y="4104000"/>
            <a:ext cx="2808000" cy="28800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379" name="文本框 378"/>
          <p:cNvSpPr txBox="1"/>
          <p:nvPr/>
        </p:nvSpPr>
        <p:spPr>
          <a:xfrm>
            <a:off x="7920000" y="4104000"/>
            <a:ext cx="280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10 </a:t>
            </a:r>
            <a:r>
              <a:rPr lang="zh-CN" sz="9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分钟失效</a:t>
            </a:r>
            <a:endParaRPr lang="en-US" sz="9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80" name="矩形 379"/>
          <p:cNvSpPr/>
          <p:nvPr/>
        </p:nvSpPr>
        <p:spPr>
          <a:xfrm>
            <a:off x="684000" y="4751265"/>
            <a:ext cx="10836000" cy="1116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</p:sp>
      <p:sp>
        <p:nvSpPr>
          <p:cNvPr id="381" name="文本框 380"/>
          <p:cNvSpPr txBox="1"/>
          <p:nvPr/>
        </p:nvSpPr>
        <p:spPr>
          <a:xfrm>
            <a:off x="864000" y="4895265"/>
            <a:ext cx="10512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5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GET /presign?camID=AC250071&amp;sessionID=1789112960&amp;fileName=vectors.idx</a:t>
            </a:r>
            <a:endParaRPr lang="en-US" sz="95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864000" y="5363265"/>
            <a:ext cx="10512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50" b="0" strike="noStrike" spc="-1">
                <a:solidFill>
                  <a:srgbClr val="A7F3D0"/>
                </a:solidFill>
                <a:latin typeface="Noto Sans Mono CJK SC" panose="020B0500000000000000" charset="-122"/>
              </a:rPr>
              <a:t>key = AC250071/1789112960/vectors.idx  →  X-Amz-Expires=600</a:t>
            </a:r>
            <a:endParaRPr lang="en-US" sz="950" b="0" strike="noStrike" spc="-1">
              <a:solidFill>
                <a:srgbClr val="A7F3D0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85" name="文本框 384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86" name="文本框 385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文本框 457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补充：大文件分片上传机制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59" name="直接连接符 458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0" name="文本框 459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13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61" name="文本框 460"/>
          <p:cNvSpPr txBox="1"/>
          <p:nvPr/>
        </p:nvSpPr>
        <p:spPr>
          <a:xfrm>
            <a:off x="648000" y="1728000"/>
            <a:ext cx="10584000" cy="32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Demo 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中 </a:t>
            </a:r>
            <a:r>
              <a:rPr lang="en-US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&gt; 2 MB 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进入 </a:t>
            </a:r>
            <a:r>
              <a:rPr lang="en-US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multipart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；按 </a:t>
            </a:r>
            <a:r>
              <a:rPr lang="en-US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5 MB 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切片</a:t>
            </a:r>
            <a:r>
              <a:rPr lang="zh-CN" sz="11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串行上传各分片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，直至传完所有分片。（由 S3 协议决定）</a:t>
            </a:r>
            <a:endParaRPr lang="en-US" sz="11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62" name="矩形 461"/>
          <p:cNvSpPr/>
          <p:nvPr/>
        </p:nvSpPr>
        <p:spPr>
          <a:xfrm>
            <a:off x="648000" y="2376000"/>
            <a:ext cx="3168000" cy="208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C72C48"/>
            </a:solidFill>
            <a:round/>
          </a:ln>
        </p:spPr>
      </p:sp>
      <p:sp>
        <p:nvSpPr>
          <p:cNvPr id="463" name="椭圆 462"/>
          <p:cNvSpPr/>
          <p:nvPr/>
        </p:nvSpPr>
        <p:spPr>
          <a:xfrm>
            <a:off x="900000" y="2628000"/>
            <a:ext cx="504000" cy="504000"/>
          </a:xfrm>
          <a:prstGeom prst="ellipse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464" name="文本框 463"/>
          <p:cNvSpPr txBox="1"/>
          <p:nvPr/>
        </p:nvSpPr>
        <p:spPr>
          <a:xfrm>
            <a:off x="900000" y="2628000"/>
            <a:ext cx="504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1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1620000" y="2628000"/>
            <a:ext cx="1908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200" b="1" strike="noStrike" spc="-1">
                <a:solidFill>
                  <a:srgbClr val="C72C48"/>
                </a:solidFill>
                <a:latin typeface="Noto Sans Mono CJK SC" panose="020B0500000000000000" charset="-122"/>
              </a:rPr>
              <a:t>INIT</a:t>
            </a:r>
            <a:endParaRPr lang="en-US" sz="1200" b="1" strike="noStrike" spc="-1">
              <a:solidFill>
                <a:srgbClr val="C72C48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936000" y="3492000"/>
            <a:ext cx="2592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Server 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返回 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uploadId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67" name="直接连接符 466"/>
          <p:cNvSpPr/>
          <p:nvPr/>
        </p:nvSpPr>
        <p:spPr>
          <a:xfrm>
            <a:off x="3852000" y="3420000"/>
            <a:ext cx="432000" cy="0"/>
          </a:xfrm>
          <a:prstGeom prst="line">
            <a:avLst/>
          </a:prstGeom>
          <a:ln w="36000">
            <a:solidFill>
              <a:srgbClr val="C72C4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8" name="矩形 467"/>
          <p:cNvSpPr/>
          <p:nvPr/>
        </p:nvSpPr>
        <p:spPr>
          <a:xfrm>
            <a:off x="4356000" y="2376000"/>
            <a:ext cx="3168000" cy="208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07879B"/>
            </a:solidFill>
            <a:round/>
          </a:ln>
        </p:spPr>
      </p:sp>
      <p:sp>
        <p:nvSpPr>
          <p:cNvPr id="469" name="椭圆 468"/>
          <p:cNvSpPr/>
          <p:nvPr/>
        </p:nvSpPr>
        <p:spPr>
          <a:xfrm>
            <a:off x="4608000" y="2628000"/>
            <a:ext cx="504000" cy="504000"/>
          </a:xfrm>
          <a:prstGeom prst="ellipse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470" name="文本框 469"/>
          <p:cNvSpPr txBox="1"/>
          <p:nvPr/>
        </p:nvSpPr>
        <p:spPr>
          <a:xfrm>
            <a:off x="4608000" y="2628000"/>
            <a:ext cx="504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2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71" name="文本框 470"/>
          <p:cNvSpPr txBox="1"/>
          <p:nvPr/>
        </p:nvSpPr>
        <p:spPr>
          <a:xfrm>
            <a:off x="5328000" y="2628000"/>
            <a:ext cx="1908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2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UPLOAD PARTS</a:t>
            </a:r>
            <a:endParaRPr lang="en-US" sz="12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72" name="文本框 471"/>
          <p:cNvSpPr txBox="1"/>
          <p:nvPr/>
        </p:nvSpPr>
        <p:spPr>
          <a:xfrm>
            <a:off x="4644000" y="3492000"/>
            <a:ext cx="2592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每片取 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URL</a:t>
            </a: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，</a:t>
            </a:r>
            <a:endParaRPr lang="zh-CN" sz="1000" b="0" strike="noStrike" spc="-1">
              <a:solidFill>
                <a:srgbClr val="64748B"/>
              </a:solidFill>
              <a:latin typeface="Noto Sans CJK SC" panose="020B0500000000000000" charset="-122"/>
            </a:endParaRPr>
          </a:p>
          <a:p>
            <a:pPr algn="ctr">
              <a:buNone/>
            </a:pP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UploadId + PartNumber  -&gt; ETag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</a:endParaRPr>
          </a:p>
        </p:txBody>
      </p:sp>
      <p:sp>
        <p:nvSpPr>
          <p:cNvPr id="473" name="直接连接符 472"/>
          <p:cNvSpPr/>
          <p:nvPr/>
        </p:nvSpPr>
        <p:spPr>
          <a:xfrm>
            <a:off x="7560000" y="3420000"/>
            <a:ext cx="432000" cy="0"/>
          </a:xfrm>
          <a:prstGeom prst="line">
            <a:avLst/>
          </a:prstGeom>
          <a:ln w="36000">
            <a:solidFill>
              <a:srgbClr val="07879B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74" name="矩形 473"/>
          <p:cNvSpPr/>
          <p:nvPr/>
        </p:nvSpPr>
        <p:spPr>
          <a:xfrm>
            <a:off x="8064000" y="2376000"/>
            <a:ext cx="3168000" cy="2088000"/>
          </a:xfrm>
          <a:prstGeom prst="rect">
            <a:avLst/>
          </a:prstGeom>
          <a:solidFill>
            <a:srgbClr val="FFFFFF"/>
          </a:solidFill>
          <a:ln w="36000">
            <a:solidFill>
              <a:srgbClr val="16865C"/>
            </a:solidFill>
            <a:round/>
          </a:ln>
        </p:spPr>
      </p:sp>
      <p:sp>
        <p:nvSpPr>
          <p:cNvPr id="475" name="椭圆 474"/>
          <p:cNvSpPr/>
          <p:nvPr/>
        </p:nvSpPr>
        <p:spPr>
          <a:xfrm>
            <a:off x="8316000" y="2628000"/>
            <a:ext cx="504000" cy="504000"/>
          </a:xfrm>
          <a:prstGeom prst="ellipse">
            <a:avLst/>
          </a:prstGeom>
          <a:solidFill>
            <a:srgbClr val="16865C"/>
          </a:solidFill>
          <a:ln w="0">
            <a:noFill/>
          </a:ln>
        </p:spPr>
      </p:sp>
      <p:sp>
        <p:nvSpPr>
          <p:cNvPr id="476" name="文本框 475"/>
          <p:cNvSpPr txBox="1"/>
          <p:nvPr/>
        </p:nvSpPr>
        <p:spPr>
          <a:xfrm>
            <a:off x="8316000" y="2628000"/>
            <a:ext cx="504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3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77" name="文本框 476"/>
          <p:cNvSpPr txBox="1"/>
          <p:nvPr/>
        </p:nvSpPr>
        <p:spPr>
          <a:xfrm>
            <a:off x="9036000" y="2628000"/>
            <a:ext cx="1908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200" b="1" strike="noStrike" spc="-1">
                <a:solidFill>
                  <a:srgbClr val="16865C"/>
                </a:solidFill>
                <a:latin typeface="Noto Sans Mono CJK SC" panose="020B0500000000000000" charset="-122"/>
              </a:rPr>
              <a:t>COMPLETE</a:t>
            </a:r>
            <a:endParaRPr lang="en-US" sz="1200" b="1" strike="noStrike" spc="-1">
              <a:solidFill>
                <a:srgbClr val="16865C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78" name="文本框 477"/>
          <p:cNvSpPr txBox="1"/>
          <p:nvPr/>
        </p:nvSpPr>
        <p:spPr>
          <a:xfrm>
            <a:off x="8352000" y="3492000"/>
            <a:ext cx="2592000" cy="50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提交</a:t>
            </a:r>
            <a:r>
              <a:rPr lang="en-US" sz="10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分片列表（含 PartNumber 和 ETag）+uploadID，MinIO把碎片合并成完整对象</a:t>
            </a:r>
            <a:endParaRPr lang="en-US" sz="1000" b="0" strike="noStrike" spc="-1">
              <a:solidFill>
                <a:srgbClr val="64748B"/>
              </a:solidFill>
              <a:latin typeface="Noto Sans CJK SC" panose="020B0500000000000000" charset="-122"/>
            </a:endParaRPr>
          </a:p>
        </p:txBody>
      </p:sp>
      <p:sp>
        <p:nvSpPr>
          <p:cNvPr id="479" name="矩形 478"/>
          <p:cNvSpPr/>
          <p:nvPr/>
        </p:nvSpPr>
        <p:spPr>
          <a:xfrm>
            <a:off x="648000" y="5040000"/>
            <a:ext cx="10584000" cy="900000"/>
          </a:xfrm>
          <a:prstGeom prst="rect">
            <a:avLst/>
          </a:prstGeom>
          <a:solidFill>
            <a:srgbClr val="FDECEC"/>
          </a:solidFill>
          <a:ln w="0">
            <a:noFill/>
          </a:ln>
        </p:spPr>
      </p:sp>
      <p:sp>
        <p:nvSpPr>
          <p:cNvPr id="480" name="文本框 479"/>
          <p:cNvSpPr txBox="1"/>
          <p:nvPr/>
        </p:nvSpPr>
        <p:spPr>
          <a:xfrm>
            <a:off x="900000" y="5148000"/>
            <a:ext cx="10080000" cy="31716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400" b="1" strike="noStrike" spc="-1">
                <a:solidFill>
                  <a:srgbClr val="9F1837"/>
                </a:solidFill>
                <a:latin typeface="Noto Sans CJK SC" panose="020B0500000000000000" charset="-122"/>
              </a:rPr>
              <a:t>任一分片或合并失败</a:t>
            </a:r>
            <a:r>
              <a:rPr lang="en-US" altLang="zh-CN" sz="1400" b="1" strike="noStrike" spc="-1">
                <a:solidFill>
                  <a:srgbClr val="9F1837"/>
                </a:solidFill>
                <a:latin typeface="Noto Sans CJK SC" panose="020B0500000000000000" charset="-122"/>
              </a:rPr>
              <a:t> </a:t>
            </a:r>
            <a:r>
              <a:rPr lang="zh-CN" sz="1400" b="1" strike="noStrike" spc="-1">
                <a:solidFill>
                  <a:srgbClr val="9F1837"/>
                </a:solidFill>
                <a:latin typeface="Noto Sans CJK SC" panose="020B0500000000000000" charset="-122"/>
              </a:rPr>
              <a:t>或</a:t>
            </a:r>
            <a:r>
              <a:rPr lang="en-US" altLang="zh-CN" sz="1400" b="1" strike="noStrike" spc="-1">
                <a:solidFill>
                  <a:srgbClr val="9F1837"/>
                </a:solidFill>
                <a:latin typeface="Noto Sans CJK SC" panose="020B0500000000000000" charset="-122"/>
              </a:rPr>
              <a:t> </a:t>
            </a:r>
            <a:r>
              <a:rPr lang="zh-CN" sz="1400" b="1" strike="noStrike" spc="-1">
                <a:solidFill>
                  <a:srgbClr val="9F1837"/>
                </a:solidFill>
                <a:latin typeface="Noto Sans CJK SC" panose="020B0500000000000000" charset="-122"/>
              </a:rPr>
              <a:t>中途终止：</a:t>
            </a:r>
            <a:r>
              <a:rPr lang="en-US" sz="1400" b="1" strike="noStrike" spc="-1">
                <a:solidFill>
                  <a:srgbClr val="9F1837"/>
                </a:solidFill>
                <a:latin typeface="Noto Sans CJK SC" panose="020B0500000000000000" charset="-122"/>
              </a:rPr>
              <a:t>abortMultipartUpload</a:t>
            </a:r>
            <a:endParaRPr lang="en-US" sz="1400" b="1" strike="noStrike" spc="-1">
              <a:solidFill>
                <a:srgbClr val="9F1837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81" name="文本框 480"/>
          <p:cNvSpPr txBox="1"/>
          <p:nvPr/>
        </p:nvSpPr>
        <p:spPr>
          <a:xfrm>
            <a:off x="900000" y="5544000"/>
            <a:ext cx="10080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否则未完成分片可能持续占用存储。</a:t>
            </a:r>
            <a:endParaRPr lang="en-US" sz="11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MinIO </a:t>
            </a:r>
            <a:r>
              <a:rPr lang="zh-CN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83" name="文本框 482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1" name="矩形 350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52" name="文本框 351"/>
          <p:cNvSpPr txBox="1"/>
          <p:nvPr/>
        </p:nvSpPr>
        <p:spPr>
          <a:xfrm>
            <a:off x="828040" y="251460"/>
            <a:ext cx="1035685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3" name="矩形 352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354" name="文本框 353"/>
          <p:cNvSpPr txBox="1"/>
          <p:nvPr/>
        </p:nvSpPr>
        <p:spPr>
          <a:xfrm>
            <a:off x="2527300" y="287655"/>
            <a:ext cx="1138555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55" name="矩形 354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56" name="文本框 355"/>
          <p:cNvSpPr txBox="1"/>
          <p:nvPr/>
        </p:nvSpPr>
        <p:spPr>
          <a:xfrm>
            <a:off x="4296410" y="251460"/>
            <a:ext cx="1026160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" name="椭圆形标注 1"/>
          <p:cNvSpPr/>
          <p:nvPr/>
        </p:nvSpPr>
        <p:spPr>
          <a:xfrm>
            <a:off x="6990080" y="405130"/>
            <a:ext cx="2329815" cy="890905"/>
          </a:xfrm>
          <a:prstGeom prst="wedgeEllipseCallout">
            <a:avLst/>
          </a:prstGeom>
          <a:solidFill>
            <a:schemeClr val="bg1">
              <a:lumMod val="9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为什么要把 INIT 和 UPLOAD PARTS 分开？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816090" y="1628775"/>
            <a:ext cx="5219700" cy="224472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olidFill>
                  <a:schemeClr val="tx1"/>
                </a:solidFill>
                <a:sym typeface="+mn-ea"/>
              </a:rPr>
              <a:t>答：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l"/>
            <a:r>
              <a:rPr lang="zh-CN" altLang="en-US" sz="1400">
                <a:solidFill>
                  <a:schemeClr val="tx1"/>
                </a:solidFill>
                <a:sym typeface="+mn-ea"/>
              </a:rPr>
              <a:t>断点续传：如果传到第 50 块时网断了，客户端不需要从头再来。它只需要重新发起请求，拿着之前的 UploadId，从第 51 块继续传。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endParaRPr lang="zh-CN" altLang="en-US" sz="1400">
              <a:solidFill>
                <a:schemeClr val="tx1"/>
              </a:solidFill>
            </a:endParaRPr>
          </a:p>
          <a:p>
            <a:pPr algn="l"/>
            <a:r>
              <a:rPr lang="zh-CN" altLang="en-US" sz="1400">
                <a:solidFill>
                  <a:schemeClr val="tx1"/>
                </a:solidFill>
                <a:sym typeface="+mn-ea"/>
              </a:rPr>
              <a:t>并行上传：客户端可以同时开 10 个线程，并发上传这 100 个分片，极大提高速度。只要在最后 COMPLETE 时按顺序把 PartNumber 和 ETag 提交上去即可。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bldLvl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238" name="文本框 237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240" name="文本框 239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242" name="文本框 241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录像目录、对象 </a:t>
            </a:r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Key </a:t>
            </a:r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与上传状态</a:t>
            </a:r>
            <a:endParaRPr lang="en-US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4" name="直接连接符 243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45" name="文本框 244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07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612000" y="1728000"/>
            <a:ext cx="10944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本地层级直接映射为对象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key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；上传状态保留在本地文件名中，不写入 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key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。</a:t>
            </a:r>
            <a:endParaRPr lang="en-US" sz="11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648000" y="2232000"/>
            <a:ext cx="478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C72C48"/>
                </a:solidFill>
                <a:latin typeface="Noto Sans Mono CJK SC" panose="020B0500000000000000" charset="-122"/>
              </a:rPr>
              <a:t>LOCAL · EvtvcrForTest</a:t>
            </a:r>
            <a:endParaRPr lang="en-US" sz="1000" b="1" strike="noStrike" spc="-1">
              <a:solidFill>
                <a:srgbClr val="C72C48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648000" y="2592000"/>
            <a:ext cx="5148000" cy="2448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DEE8"/>
            </a:solidFill>
            <a:round/>
          </a:ln>
        </p:spPr>
      </p:sp>
      <p:sp>
        <p:nvSpPr>
          <p:cNvPr id="249" name="文本框 248"/>
          <p:cNvSpPr txBox="1"/>
          <p:nvPr/>
        </p:nvSpPr>
        <p:spPr>
          <a:xfrm>
            <a:off x="936000" y="2808000"/>
            <a:ext cx="4608000" cy="180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AC250071/</a:t>
            </a:r>
            <a:endParaRPr lang="en-US" sz="1100" b="0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  <a:p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└─ </a:t>
            </a:r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1789112960/</a:t>
            </a:r>
            <a:endParaRPr lang="en-US" sz="1100" b="0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  <a:p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   ├─ </a:t>
            </a:r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thumbnail-1789112960.jpg</a:t>
            </a:r>
            <a:endParaRPr lang="en-US" sz="1100" b="0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  <a:p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   └─ </a:t>
            </a:r>
            <a:r>
              <a:rPr lang="en-US" sz="1100" b="0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vectors.idx</a:t>
            </a:r>
            <a:endParaRPr lang="en-US" sz="1100" b="0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6408000" y="2232000"/>
            <a:ext cx="5148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MINIO · bucket = evtvcr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6408000" y="2592000"/>
            <a:ext cx="5148000" cy="2448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</p:sp>
      <p:sp>
        <p:nvSpPr>
          <p:cNvPr id="252" name="文本框 251"/>
          <p:cNvSpPr txBox="1"/>
          <p:nvPr/>
        </p:nvSpPr>
        <p:spPr>
          <a:xfrm>
            <a:off x="6660000" y="2844000"/>
            <a:ext cx="1152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A7F3D0"/>
                </a:solidFill>
                <a:latin typeface="Noto Sans Mono CJK SC" panose="020B0500000000000000" charset="-122"/>
              </a:rPr>
              <a:t>key =</a:t>
            </a:r>
            <a:endParaRPr lang="en-US" sz="1000" b="1" strike="noStrike" spc="-1">
              <a:solidFill>
                <a:srgbClr val="A7F3D0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6660000" y="3096735"/>
            <a:ext cx="4608000" cy="1299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en-US" sz="105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AC250071/</a:t>
            </a:r>
            <a:endParaRPr lang="en-US" sz="105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  <a:p>
            <a:r>
              <a:rPr lang="en-US" sz="105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1789112960/</a:t>
            </a:r>
            <a:endParaRPr lang="en-US" sz="105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  <a:p>
            <a:r>
              <a:rPr lang="en-US" sz="105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thumbnail-1789112960.jpg</a:t>
            </a:r>
            <a:endParaRPr lang="en-US" sz="105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648000" y="5328000"/>
            <a:ext cx="4572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成功标记的生命周期</a:t>
            </a:r>
            <a:endParaRPr lang="en-US" sz="1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648000" y="5688000"/>
            <a:ext cx="1224000" cy="28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256" name="文本框 255"/>
          <p:cNvSpPr txBox="1"/>
          <p:nvPr/>
        </p:nvSpPr>
        <p:spPr>
          <a:xfrm>
            <a:off x="648000" y="5688000"/>
            <a:ext cx="122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上传前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2016000" y="5688000"/>
            <a:ext cx="219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85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fileName</a:t>
            </a:r>
            <a:endParaRPr lang="en-US" sz="85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4284000" y="5688000"/>
            <a:ext cx="122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259" name="文本框 258"/>
          <p:cNvSpPr txBox="1"/>
          <p:nvPr/>
        </p:nvSpPr>
        <p:spPr>
          <a:xfrm>
            <a:off x="4284000" y="5688000"/>
            <a:ext cx="122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单文件成功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5652000" y="5688000"/>
            <a:ext cx="219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85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fileName.uploaded</a:t>
            </a:r>
            <a:endParaRPr lang="en-US" sz="85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7920000" y="5688000"/>
            <a:ext cx="1224000" cy="288000"/>
          </a:xfrm>
          <a:prstGeom prst="rect">
            <a:avLst/>
          </a:prstGeom>
          <a:solidFill>
            <a:srgbClr val="16865C"/>
          </a:solidFill>
          <a:ln w="0">
            <a:noFill/>
          </a:ln>
        </p:spPr>
      </p:sp>
      <p:sp>
        <p:nvSpPr>
          <p:cNvPr id="262" name="文本框 261"/>
          <p:cNvSpPr txBox="1"/>
          <p:nvPr/>
        </p:nvSpPr>
        <p:spPr>
          <a:xfrm>
            <a:off x="7920000" y="5688000"/>
            <a:ext cx="122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Session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全完成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9288000" y="5688000"/>
            <a:ext cx="219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85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sessionID.uploaded/</a:t>
            </a:r>
            <a:endParaRPr lang="en-US" sz="85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MinIO </a:t>
            </a:r>
            <a:r>
              <a:rPr lang="zh-CN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矩形 266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268" name="文本框 267"/>
          <p:cNvSpPr txBox="1"/>
          <p:nvPr/>
        </p:nvSpPr>
        <p:spPr>
          <a:xfrm>
            <a:off x="576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69" name="矩形 268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270" name="文本框 269"/>
          <p:cNvSpPr txBox="1"/>
          <p:nvPr/>
        </p:nvSpPr>
        <p:spPr>
          <a:xfrm>
            <a:off x="2304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71" name="矩形 270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272" name="文本框 271"/>
          <p:cNvSpPr txBox="1"/>
          <p:nvPr/>
        </p:nvSpPr>
        <p:spPr>
          <a:xfrm>
            <a:off x="4032000" y="252000"/>
            <a:ext cx="1584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03  </a:t>
            </a:r>
            <a:r>
              <a:rPr lang="zh-CN" altLang="en-US" sz="800" b="1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  <a:sym typeface="+mn-ea"/>
              </a:rPr>
              <a:t>实践</a:t>
            </a:r>
            <a:r>
              <a:rPr lang="zh-CN" sz="800" b="1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小结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CLI </a:t>
            </a:r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功能罗列</a:t>
            </a:r>
            <a:endParaRPr lang="en-US" altLang="zh-CN" sz="25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74" name="直接连接符 273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75" name="文本框 274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08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612000" y="1728000"/>
            <a:ext cx="10944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一个命令行入口覆盖本地状态、</a:t>
            </a:r>
            <a:r>
              <a:rPr lang="en-US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MinIO </a:t>
            </a:r>
            <a:r>
              <a:rPr lang="zh-CN" sz="11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管理、两种上传和两种下载。</a:t>
            </a:r>
            <a:endParaRPr lang="en-US" sz="11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648000" y="2304000"/>
            <a:ext cx="396000" cy="396000"/>
          </a:xfrm>
          <a:prstGeom prst="ellipse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278" name="文本框 277"/>
          <p:cNvSpPr txBox="1"/>
          <p:nvPr/>
        </p:nvSpPr>
        <p:spPr>
          <a:xfrm>
            <a:off x="648000" y="2304000"/>
            <a:ext cx="396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1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1188085" y="2268220"/>
            <a:ext cx="1677670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待上传文件列表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80" name="椭圆 279"/>
          <p:cNvSpPr/>
          <p:nvPr/>
        </p:nvSpPr>
        <p:spPr>
          <a:xfrm>
            <a:off x="3278205" y="2304000"/>
            <a:ext cx="396000" cy="396000"/>
          </a:xfrm>
          <a:prstGeom prst="ellipse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281" name="文本框 280"/>
          <p:cNvSpPr txBox="1"/>
          <p:nvPr/>
        </p:nvSpPr>
        <p:spPr>
          <a:xfrm>
            <a:off x="3345180" y="2366645"/>
            <a:ext cx="262255" cy="27368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2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3818255" y="2268220"/>
            <a:ext cx="1323975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已上传文件列表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83" name="椭圆 282"/>
          <p:cNvSpPr/>
          <p:nvPr/>
        </p:nvSpPr>
        <p:spPr>
          <a:xfrm>
            <a:off x="648000" y="3096000"/>
            <a:ext cx="396000" cy="396000"/>
          </a:xfrm>
          <a:prstGeom prst="ellipse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284" name="文本框 283"/>
          <p:cNvSpPr txBox="1"/>
          <p:nvPr/>
        </p:nvSpPr>
        <p:spPr>
          <a:xfrm>
            <a:off x="648000" y="3096000"/>
            <a:ext cx="396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3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1188085" y="3060065"/>
            <a:ext cx="1496060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MinIO 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对象列表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86" name="椭圆 285"/>
          <p:cNvSpPr/>
          <p:nvPr/>
        </p:nvSpPr>
        <p:spPr>
          <a:xfrm>
            <a:off x="3278205" y="3096000"/>
            <a:ext cx="396000" cy="396000"/>
          </a:xfrm>
          <a:prstGeom prst="ellipse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287" name="文本框 286"/>
          <p:cNvSpPr txBox="1"/>
          <p:nvPr/>
        </p:nvSpPr>
        <p:spPr>
          <a:xfrm>
            <a:off x="3345180" y="3178810"/>
            <a:ext cx="278765" cy="2305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4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3818255" y="3060065"/>
            <a:ext cx="1323975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删除指定对象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89" name="椭圆 288"/>
          <p:cNvSpPr/>
          <p:nvPr/>
        </p:nvSpPr>
        <p:spPr>
          <a:xfrm>
            <a:off x="648000" y="3888000"/>
            <a:ext cx="396000" cy="396000"/>
          </a:xfrm>
          <a:prstGeom prst="ellipse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290" name="文本框 289"/>
          <p:cNvSpPr txBox="1"/>
          <p:nvPr/>
        </p:nvSpPr>
        <p:spPr>
          <a:xfrm>
            <a:off x="648000" y="3888000"/>
            <a:ext cx="396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5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1188085" y="3851910"/>
            <a:ext cx="1524000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经 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Server 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直接上传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92" name="椭圆 291"/>
          <p:cNvSpPr/>
          <p:nvPr/>
        </p:nvSpPr>
        <p:spPr>
          <a:xfrm>
            <a:off x="3278205" y="3888000"/>
            <a:ext cx="396000" cy="396000"/>
          </a:xfrm>
          <a:prstGeom prst="ellipse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293" name="文本框 292"/>
          <p:cNvSpPr txBox="1"/>
          <p:nvPr/>
        </p:nvSpPr>
        <p:spPr>
          <a:xfrm>
            <a:off x="3345180" y="3966210"/>
            <a:ext cx="292735" cy="24003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6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3818255" y="3851910"/>
            <a:ext cx="1388110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预签名上传 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/ 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自动分片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95" name="椭圆 294"/>
          <p:cNvSpPr/>
          <p:nvPr/>
        </p:nvSpPr>
        <p:spPr>
          <a:xfrm>
            <a:off x="648000" y="4680000"/>
            <a:ext cx="396000" cy="396000"/>
          </a:xfrm>
          <a:prstGeom prst="ellipse">
            <a:avLst/>
          </a:prstGeom>
          <a:solidFill>
            <a:srgbClr val="16865C"/>
          </a:solidFill>
          <a:ln w="0">
            <a:noFill/>
          </a:ln>
        </p:spPr>
      </p:sp>
      <p:sp>
        <p:nvSpPr>
          <p:cNvPr id="296" name="文本框 295"/>
          <p:cNvSpPr txBox="1"/>
          <p:nvPr/>
        </p:nvSpPr>
        <p:spPr>
          <a:xfrm>
            <a:off x="648000" y="4680000"/>
            <a:ext cx="396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7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1188085" y="4643755"/>
            <a:ext cx="1579245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经 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Server 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直接下载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98" name="椭圆 297"/>
          <p:cNvSpPr/>
          <p:nvPr/>
        </p:nvSpPr>
        <p:spPr>
          <a:xfrm>
            <a:off x="3278205" y="4680000"/>
            <a:ext cx="396000" cy="396000"/>
          </a:xfrm>
          <a:prstGeom prst="ellipse">
            <a:avLst/>
          </a:prstGeom>
          <a:solidFill>
            <a:srgbClr val="16865C"/>
          </a:solidFill>
          <a:ln w="0">
            <a:noFill/>
          </a:ln>
        </p:spPr>
      </p:sp>
      <p:sp>
        <p:nvSpPr>
          <p:cNvPr id="299" name="文本框 298"/>
          <p:cNvSpPr txBox="1"/>
          <p:nvPr/>
        </p:nvSpPr>
        <p:spPr>
          <a:xfrm>
            <a:off x="3362325" y="4762500"/>
            <a:ext cx="247650" cy="2324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8</a:t>
            </a:r>
            <a:endParaRPr lang="en-US" sz="8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3818255" y="4643755"/>
            <a:ext cx="1054100" cy="43561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预签名 </a:t>
            </a:r>
            <a:r>
              <a:rPr lang="en-US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URL </a:t>
            </a:r>
            <a:r>
              <a:rPr lang="zh-CN" sz="95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下载</a:t>
            </a:r>
            <a:endParaRPr lang="en-US" sz="95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648000" y="5724000"/>
            <a:ext cx="10908000" cy="576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</p:sp>
      <p:sp>
        <p:nvSpPr>
          <p:cNvPr id="305" name="文本框 304"/>
          <p:cNvSpPr txBox="1"/>
          <p:nvPr/>
        </p:nvSpPr>
        <p:spPr>
          <a:xfrm>
            <a:off x="900000" y="5760000"/>
            <a:ext cx="10440000" cy="47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1100" b="1" spc="-1">
                <a:solidFill>
                  <a:srgbClr val="FFFFFF"/>
                </a:solidFill>
                <a:latin typeface="Noto Sans Mono CJK SC" panose="020B0500000000000000" charset="-122"/>
                <a:sym typeface="+mn-ea"/>
              </a:rPr>
              <a:t>Client: $ go run client/main.go                                                      </a:t>
            </a:r>
            <a:r>
              <a:rPr lang="en-US" sz="1100" b="1" strike="noStrike" spc="-1">
                <a:solidFill>
                  <a:srgbClr val="FFFFFF"/>
                </a:solidFill>
                <a:latin typeface="Noto Sans Mono CJK SC" panose="020B0500000000000000" charset="-122"/>
              </a:rPr>
              <a:t>Server: $ go run server/main.go</a:t>
            </a:r>
            <a:endParaRPr lang="en-US" sz="1100" b="1" strike="noStrike" spc="-1">
              <a:solidFill>
                <a:srgbClr val="FFFFFF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MinIO </a:t>
            </a:r>
            <a:r>
              <a:rPr lang="zh-CN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350" y="1165860"/>
            <a:ext cx="6169025" cy="36645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50" y="4798060"/>
            <a:ext cx="6169025" cy="762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矩形 387"/>
          <p:cNvSpPr/>
          <p:nvPr/>
        </p:nvSpPr>
        <p:spPr>
          <a:xfrm>
            <a:off x="576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89" name="文本框 388"/>
          <p:cNvSpPr txBox="1"/>
          <p:nvPr/>
        </p:nvSpPr>
        <p:spPr>
          <a:xfrm>
            <a:off x="911225" y="252095"/>
            <a:ext cx="859790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01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基础概念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90" name="矩形 389"/>
          <p:cNvSpPr/>
          <p:nvPr/>
        </p:nvSpPr>
        <p:spPr>
          <a:xfrm>
            <a:off x="2304000" y="252000"/>
            <a:ext cx="1584000" cy="288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391" name="文本框 390"/>
          <p:cNvSpPr txBox="1"/>
          <p:nvPr/>
        </p:nvSpPr>
        <p:spPr>
          <a:xfrm>
            <a:off x="2567940" y="252095"/>
            <a:ext cx="968375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02  </a:t>
            </a:r>
            <a:r>
              <a:rPr lang="zh-CN" sz="8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接入实践</a:t>
            </a:r>
            <a:endParaRPr lang="en-US" sz="8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92" name="矩形 391"/>
          <p:cNvSpPr/>
          <p:nvPr/>
        </p:nvSpPr>
        <p:spPr>
          <a:xfrm>
            <a:off x="4032000" y="252000"/>
            <a:ext cx="1584000" cy="28800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393" name="文本框 392"/>
          <p:cNvSpPr txBox="1"/>
          <p:nvPr/>
        </p:nvSpPr>
        <p:spPr>
          <a:xfrm>
            <a:off x="4301490" y="252095"/>
            <a:ext cx="1045210" cy="255905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>
              <a:buNone/>
            </a:pPr>
            <a:r>
              <a:rPr lang="en-US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03  </a:t>
            </a:r>
            <a:r>
              <a:rPr lang="zh-CN" altLang="en-US" sz="800" b="1" strike="noStrike" spc="-1">
                <a:solidFill>
                  <a:srgbClr val="FFFFFF"/>
                </a:solidFill>
                <a:latin typeface="Noto Sans CJK SC" panose="020B0500000000000000" charset="-122"/>
                <a:ea typeface="宋体" charset="0"/>
              </a:rPr>
              <a:t>实践</a:t>
            </a:r>
            <a:r>
              <a:rPr lang="zh-CN" sz="8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小结</a:t>
            </a:r>
            <a:endParaRPr lang="en-US" sz="8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94" name="文本框 393"/>
          <p:cNvSpPr txBox="1"/>
          <p:nvPr/>
        </p:nvSpPr>
        <p:spPr>
          <a:xfrm>
            <a:off x="576000" y="720000"/>
            <a:ext cx="10620000" cy="61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25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验证进展与待办清单</a:t>
            </a:r>
            <a:endParaRPr lang="zh-CN" sz="2500" b="1" strike="noStrike" spc="-1">
              <a:solidFill>
                <a:srgbClr val="172033"/>
              </a:solidFill>
              <a:latin typeface="Noto Sans CJK SC" panose="020B0500000000000000" charset="-122"/>
            </a:endParaRPr>
          </a:p>
        </p:txBody>
      </p:sp>
      <p:sp>
        <p:nvSpPr>
          <p:cNvPr id="395" name="直接连接符 394"/>
          <p:cNvSpPr/>
          <p:nvPr/>
        </p:nvSpPr>
        <p:spPr>
          <a:xfrm>
            <a:off x="576000" y="1548000"/>
            <a:ext cx="11016000" cy="0"/>
          </a:xfrm>
          <a:prstGeom prst="line">
            <a:avLst/>
          </a:prstGeom>
          <a:ln w="12600">
            <a:solidFill>
              <a:srgbClr val="D9DEE8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6" name="文本框 395"/>
          <p:cNvSpPr txBox="1"/>
          <p:nvPr/>
        </p:nvSpPr>
        <p:spPr>
          <a:xfrm>
            <a:off x="10944000" y="252000"/>
            <a:ext cx="648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1000" b="1" strike="noStrike" spc="-1">
                <a:solidFill>
                  <a:srgbClr val="64748B"/>
                </a:solidFill>
                <a:latin typeface="Noto Sans CJK SC" panose="020B0500000000000000" charset="-122"/>
              </a:rPr>
              <a:t>11</a:t>
            </a:r>
            <a:endParaRPr lang="en-US" sz="1000" b="1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97" name="文本框 396"/>
          <p:cNvSpPr txBox="1"/>
          <p:nvPr/>
        </p:nvSpPr>
        <p:spPr>
          <a:xfrm>
            <a:off x="612000" y="1692000"/>
            <a:ext cx="10944000" cy="291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本次演示基于本地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部署的</a:t>
            </a:r>
            <a:r>
              <a:rPr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 MinIO 和 Go Demo，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验证</a:t>
            </a:r>
            <a:r>
              <a:rPr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了</a:t>
            </a:r>
            <a:r>
              <a:rPr lang="zh-CN" sz="1100" b="0" strike="noStrike" spc="-1">
                <a:solidFill>
                  <a:srgbClr val="64748B"/>
                </a:solidFill>
                <a:latin typeface="Noto Sans CJK SC" panose="020B0500000000000000" charset="-122"/>
                <a:ea typeface="宋体" charset="0"/>
              </a:rPr>
              <a:t>文件处理流程</a:t>
            </a:r>
            <a:r>
              <a:rPr sz="11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。</a:t>
            </a:r>
            <a:endParaRPr sz="1100" b="0" strike="noStrike" spc="-1">
              <a:solidFill>
                <a:srgbClr val="64748B"/>
              </a:solidFill>
              <a:latin typeface="Noto Sans CJK SC" panose="020B0500000000000000" charset="-122"/>
            </a:endParaRPr>
          </a:p>
        </p:txBody>
      </p:sp>
      <p:sp>
        <p:nvSpPr>
          <p:cNvPr id="398" name="矩形 397"/>
          <p:cNvSpPr/>
          <p:nvPr/>
        </p:nvSpPr>
        <p:spPr>
          <a:xfrm>
            <a:off x="612000" y="2196000"/>
            <a:ext cx="5184000" cy="396000"/>
          </a:xfrm>
          <a:prstGeom prst="rect">
            <a:avLst/>
          </a:prstGeom>
          <a:solidFill>
            <a:srgbClr val="07879B"/>
          </a:solidFill>
          <a:ln w="0">
            <a:noFill/>
          </a:ln>
        </p:spPr>
      </p:sp>
      <p:sp>
        <p:nvSpPr>
          <p:cNvPr id="399" name="文本框 398"/>
          <p:cNvSpPr txBox="1"/>
          <p:nvPr/>
        </p:nvSpPr>
        <p:spPr>
          <a:xfrm>
            <a:off x="792000" y="2196000"/>
            <a:ext cx="4824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已完成验证</a:t>
            </a:r>
            <a:endParaRPr lang="en-US" sz="1200" b="1" strike="noStrike" spc="-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0" name="矩形 399"/>
          <p:cNvSpPr/>
          <p:nvPr/>
        </p:nvSpPr>
        <p:spPr>
          <a:xfrm>
            <a:off x="612000" y="2700000"/>
            <a:ext cx="5184000" cy="68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01" name="文本框 400"/>
          <p:cNvSpPr txBox="1"/>
          <p:nvPr/>
        </p:nvSpPr>
        <p:spPr>
          <a:xfrm>
            <a:off x="756000" y="2925475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01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02" name="文本框 401"/>
          <p:cNvSpPr txBox="1"/>
          <p:nvPr/>
        </p:nvSpPr>
        <p:spPr>
          <a:xfrm>
            <a:off x="1368000" y="2915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本地队列</a:t>
            </a:r>
            <a:endParaRPr lang="en-US" altLang="zh-CN" sz="1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3" name="文本框 402"/>
          <p:cNvSpPr txBox="1"/>
          <p:nvPr/>
        </p:nvSpPr>
        <p:spPr>
          <a:xfrm>
            <a:off x="2736000" y="2915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扫描目录并区分待上传 </a:t>
            </a:r>
            <a:r>
              <a:rPr lang="en-US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/ </a:t>
            </a:r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已上传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4" name="矩形 403"/>
          <p:cNvSpPr/>
          <p:nvPr/>
        </p:nvSpPr>
        <p:spPr>
          <a:xfrm>
            <a:off x="612000" y="3456000"/>
            <a:ext cx="5184000" cy="684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405" name="文本框 404"/>
          <p:cNvSpPr txBox="1"/>
          <p:nvPr/>
        </p:nvSpPr>
        <p:spPr>
          <a:xfrm>
            <a:off x="756000" y="3675760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02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06" name="文本框 405"/>
          <p:cNvSpPr txBox="1"/>
          <p:nvPr/>
        </p:nvSpPr>
        <p:spPr>
          <a:xfrm>
            <a:off x="1368000" y="3671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对象管理</a:t>
            </a:r>
            <a:endParaRPr lang="en-US" sz="1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7" name="文本框 406"/>
          <p:cNvSpPr txBox="1"/>
          <p:nvPr/>
        </p:nvSpPr>
        <p:spPr>
          <a:xfrm>
            <a:off x="2736000" y="3671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列出、删除 </a:t>
            </a:r>
            <a:r>
              <a:rPr lang="en-US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cam/session/file </a:t>
            </a:r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对象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8" name="矩形 407"/>
          <p:cNvSpPr/>
          <p:nvPr/>
        </p:nvSpPr>
        <p:spPr>
          <a:xfrm>
            <a:off x="612000" y="4212000"/>
            <a:ext cx="5184000" cy="68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09" name="文本框 408"/>
          <p:cNvSpPr txBox="1"/>
          <p:nvPr/>
        </p:nvSpPr>
        <p:spPr>
          <a:xfrm>
            <a:off x="756000" y="4427315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03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10" name="文本框 409"/>
          <p:cNvSpPr txBox="1"/>
          <p:nvPr/>
        </p:nvSpPr>
        <p:spPr>
          <a:xfrm>
            <a:off x="1368000" y="4427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双向传输</a:t>
            </a:r>
            <a:endParaRPr lang="en-US" sz="1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2736000" y="4427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直接与预签名上传 </a:t>
            </a:r>
            <a:r>
              <a:rPr lang="en-US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/ </a:t>
            </a:r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下载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12" name="矩形 411"/>
          <p:cNvSpPr/>
          <p:nvPr/>
        </p:nvSpPr>
        <p:spPr>
          <a:xfrm>
            <a:off x="612000" y="4968000"/>
            <a:ext cx="5184000" cy="684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413" name="文本框 412"/>
          <p:cNvSpPr txBox="1"/>
          <p:nvPr/>
        </p:nvSpPr>
        <p:spPr>
          <a:xfrm>
            <a:off x="767430" y="5187760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07879B"/>
                </a:solidFill>
                <a:latin typeface="Noto Sans Mono CJK SC" panose="020B0500000000000000" charset="-122"/>
              </a:rPr>
              <a:t>04</a:t>
            </a:r>
            <a:endParaRPr lang="en-US" sz="1000" b="1" strike="noStrike" spc="-1">
              <a:solidFill>
                <a:srgbClr val="07879B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14" name="文本框 413"/>
          <p:cNvSpPr txBox="1"/>
          <p:nvPr/>
        </p:nvSpPr>
        <p:spPr>
          <a:xfrm>
            <a:off x="1368000" y="5183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大文件</a:t>
            </a:r>
            <a:endParaRPr lang="en-US" sz="1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15" name="文本框 414"/>
          <p:cNvSpPr txBox="1"/>
          <p:nvPr/>
        </p:nvSpPr>
        <p:spPr>
          <a:xfrm>
            <a:off x="2736000" y="5183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分片、</a:t>
            </a:r>
            <a:r>
              <a:rPr lang="en-US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ETag </a:t>
            </a:r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合并与失败 </a:t>
            </a:r>
            <a:r>
              <a:rPr lang="en-US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abort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16" name="矩形 415"/>
          <p:cNvSpPr/>
          <p:nvPr/>
        </p:nvSpPr>
        <p:spPr>
          <a:xfrm>
            <a:off x="6156000" y="2196000"/>
            <a:ext cx="5184000" cy="39600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</p:sp>
      <p:sp>
        <p:nvSpPr>
          <p:cNvPr id="417" name="文本框 416"/>
          <p:cNvSpPr txBox="1"/>
          <p:nvPr/>
        </p:nvSpPr>
        <p:spPr>
          <a:xfrm>
            <a:off x="6336000" y="2196000"/>
            <a:ext cx="4824000" cy="363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后续待验证</a:t>
            </a:r>
            <a:endParaRPr lang="zh-CN" sz="1200" b="1" strike="noStrike" spc="-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418" name="矩形 417"/>
          <p:cNvSpPr/>
          <p:nvPr/>
        </p:nvSpPr>
        <p:spPr>
          <a:xfrm>
            <a:off x="6156000" y="2700000"/>
            <a:ext cx="5184000" cy="68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19" name="文本框 418"/>
          <p:cNvSpPr txBox="1"/>
          <p:nvPr/>
        </p:nvSpPr>
        <p:spPr>
          <a:xfrm>
            <a:off x="6300000" y="2924840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01</a:t>
            </a:r>
            <a:endParaRPr lang="en-US" sz="10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20" name="文本框 419"/>
          <p:cNvSpPr txBox="1"/>
          <p:nvPr/>
        </p:nvSpPr>
        <p:spPr>
          <a:xfrm>
            <a:off x="6912000" y="2915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可靠队列</a:t>
            </a:r>
            <a:endParaRPr lang="en-US" sz="1100" b="1" strike="noStrike" spc="-1">
              <a:solidFill>
                <a:srgbClr val="172033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8280000" y="2915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断点续传、重试、并发与状态持久化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22" name="矩形 421"/>
          <p:cNvSpPr/>
          <p:nvPr/>
        </p:nvSpPr>
        <p:spPr>
          <a:xfrm>
            <a:off x="6156000" y="3456000"/>
            <a:ext cx="5184000" cy="684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423" name="文本框 422"/>
          <p:cNvSpPr txBox="1"/>
          <p:nvPr/>
        </p:nvSpPr>
        <p:spPr>
          <a:xfrm>
            <a:off x="6300000" y="3675760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02</a:t>
            </a:r>
            <a:endParaRPr lang="en-US" sz="10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24" name="文本框 423"/>
          <p:cNvSpPr txBox="1"/>
          <p:nvPr/>
        </p:nvSpPr>
        <p:spPr>
          <a:xfrm>
            <a:off x="6912000" y="3671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安全管控</a:t>
            </a:r>
            <a:endParaRPr lang="zh-CN" sz="1100" b="1" strike="noStrike" spc="-1">
              <a:solidFill>
                <a:srgbClr val="172033"/>
              </a:solidFill>
              <a:latin typeface="Noto Sans CJK SC" panose="020B0500000000000000" charset="-122"/>
            </a:endParaRPr>
          </a:p>
        </p:txBody>
      </p:sp>
      <p:sp>
        <p:nvSpPr>
          <p:cNvPr id="425" name="文本框 424"/>
          <p:cNvSpPr txBox="1"/>
          <p:nvPr/>
        </p:nvSpPr>
        <p:spPr>
          <a:xfrm>
            <a:off x="8280000" y="3671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环境变量、</a:t>
            </a:r>
            <a:r>
              <a:rPr lang="en-US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TLS</a:t>
            </a:r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、认证与最小权限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6156000" y="4212000"/>
            <a:ext cx="5184000" cy="68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27" name="文本框 426"/>
          <p:cNvSpPr txBox="1"/>
          <p:nvPr/>
        </p:nvSpPr>
        <p:spPr>
          <a:xfrm>
            <a:off x="6300000" y="4437475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03</a:t>
            </a:r>
            <a:endParaRPr lang="en-US" sz="10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6912000" y="4427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生产部署</a:t>
            </a:r>
            <a:endParaRPr lang="zh-CN" sz="1100" b="1" strike="noStrike" spc="-1">
              <a:solidFill>
                <a:srgbClr val="172033"/>
              </a:solidFill>
              <a:latin typeface="Noto Sans CJK SC" panose="020B0500000000000000" charset="-122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8280000" y="4427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高可用、容量、性能与生命周期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30" name="矩形 429"/>
          <p:cNvSpPr/>
          <p:nvPr/>
        </p:nvSpPr>
        <p:spPr>
          <a:xfrm>
            <a:off x="6156000" y="4968000"/>
            <a:ext cx="5184000" cy="684000"/>
          </a:xfrm>
          <a:prstGeom prst="rect">
            <a:avLst/>
          </a:prstGeom>
          <a:solidFill>
            <a:srgbClr val="EEF1F5"/>
          </a:solidFill>
          <a:ln w="0">
            <a:noFill/>
          </a:ln>
        </p:spPr>
      </p:sp>
      <p:sp>
        <p:nvSpPr>
          <p:cNvPr id="431" name="文本框 430"/>
          <p:cNvSpPr txBox="1"/>
          <p:nvPr/>
        </p:nvSpPr>
        <p:spPr>
          <a:xfrm>
            <a:off x="6300000" y="5183315"/>
            <a:ext cx="576000" cy="25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1000" b="1" strike="noStrike" spc="-1">
                <a:solidFill>
                  <a:srgbClr val="172033"/>
                </a:solidFill>
                <a:latin typeface="Noto Sans Mono CJK SC" panose="020B0500000000000000" charset="-122"/>
              </a:rPr>
              <a:t>04</a:t>
            </a:r>
            <a:endParaRPr lang="en-US" sz="1000" b="1" strike="noStrike" spc="-1">
              <a:solidFill>
                <a:srgbClr val="172033"/>
              </a:solidFill>
              <a:latin typeface="Noto Sans Mono CJK SC" panose="020B0500000000000000" charset="-122"/>
              <a:ea typeface="Noto Sans Mono CJK SC" panose="020B0500000000000000" charset="-122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6912000" y="5183510"/>
            <a:ext cx="1296000" cy="26064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zh-CN" sz="1100" b="1" strike="noStrike" spc="-1">
                <a:solidFill>
                  <a:srgbClr val="172033"/>
                </a:solidFill>
                <a:latin typeface="Noto Sans CJK SC" panose="020B0500000000000000" charset="-122"/>
              </a:rPr>
              <a:t>测试监控</a:t>
            </a:r>
            <a:endParaRPr lang="zh-CN" sz="1100" b="1" strike="noStrike" spc="-1">
              <a:solidFill>
                <a:srgbClr val="172033"/>
              </a:solidFill>
              <a:latin typeface="Noto Sans CJK SC" panose="020B0500000000000000" charset="-122"/>
            </a:endParaRPr>
          </a:p>
        </p:txBody>
      </p:sp>
      <p:sp>
        <p:nvSpPr>
          <p:cNvPr id="433" name="文本框 432"/>
          <p:cNvSpPr txBox="1"/>
          <p:nvPr/>
        </p:nvSpPr>
        <p:spPr>
          <a:xfrm>
            <a:off x="8280000" y="5183510"/>
            <a:ext cx="2880000" cy="43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t">
            <a:noAutofit/>
          </a:bodyPr>
          <a:p>
            <a:r>
              <a:rPr lang="zh-CN" sz="85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参数校验、集成测试与可观测性</a:t>
            </a:r>
            <a:endParaRPr lang="en-US" sz="85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36" name="文本框 435"/>
          <p:cNvSpPr txBox="1"/>
          <p:nvPr/>
        </p:nvSpPr>
        <p:spPr>
          <a:xfrm>
            <a:off x="576000" y="6516000"/>
            <a:ext cx="7920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r>
              <a:rPr lang="en-US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MinIO </a:t>
            </a:r>
            <a:r>
              <a:rPr lang="zh-CN" sz="700" spc="-1">
                <a:solidFill>
                  <a:srgbClr val="64748B"/>
                </a:solidFill>
                <a:latin typeface="Noto Sans CJK SC" panose="020B0500000000000000" charset="-122"/>
                <a:sym typeface="+mn-ea"/>
              </a:rPr>
              <a:t>入门与实践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37" name="文本框 436"/>
          <p:cNvSpPr txBox="1"/>
          <p:nvPr/>
        </p:nvSpPr>
        <p:spPr>
          <a:xfrm>
            <a:off x="8784000" y="6516000"/>
            <a:ext cx="2808000" cy="18612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r">
              <a:buNone/>
            </a:pPr>
            <a:r>
              <a:rPr lang="en-US" sz="700" b="0" strike="noStrike" spc="-1">
                <a:solidFill>
                  <a:srgbClr val="64748B"/>
                </a:solidFill>
                <a:latin typeface="Noto Sans CJK SC" panose="020B0500000000000000" charset="-122"/>
              </a:rPr>
              <a:t> 2026.09</a:t>
            </a:r>
            <a:endParaRPr lang="en-US" sz="700" b="0" strike="noStrike" spc="-1">
              <a:solidFill>
                <a:srgbClr val="64748B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D1B2A"/>
          </a:solidFill>
          <a:ln w="14400">
            <a:solidFill>
              <a:srgbClr val="0D1B2A"/>
            </a:solidFill>
            <a:round/>
          </a:ln>
        </p:spPr>
      </p:sp>
      <p:sp>
        <p:nvSpPr>
          <p:cNvPr id="44" name="矩形 43"/>
          <p:cNvSpPr/>
          <p:nvPr/>
        </p:nvSpPr>
        <p:spPr>
          <a:xfrm>
            <a:off x="0" y="0"/>
            <a:ext cx="252000" cy="6858000"/>
          </a:xfrm>
          <a:prstGeom prst="rect">
            <a:avLst/>
          </a:prstGeom>
          <a:solidFill>
            <a:srgbClr val="C72C48"/>
          </a:solidFill>
          <a:ln w="0">
            <a:noFill/>
          </a:ln>
        </p:spPr>
      </p:sp>
      <p:sp>
        <p:nvSpPr>
          <p:cNvPr id="47" name="文本框 46"/>
          <p:cNvSpPr txBox="1"/>
          <p:nvPr/>
        </p:nvSpPr>
        <p:spPr>
          <a:xfrm>
            <a:off x="3575840" y="2204200"/>
            <a:ext cx="5544000" cy="1047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/>
            <a:r>
              <a:rPr lang="zh-CN" altLang="en-US" sz="3800" b="1" strike="noStrike" spc="-1">
                <a:solidFill>
                  <a:srgbClr val="FFFFFF"/>
                </a:solidFill>
                <a:latin typeface="Noto Sans CJK SC" panose="020B0500000000000000" charset="-122"/>
                <a:ea typeface="宋体" charset="0"/>
              </a:rPr>
              <a:t>谢谢大家！</a:t>
            </a:r>
            <a:endParaRPr lang="zh-CN" altLang="en-US" sz="3800" b="1" strike="noStrike" spc="-1">
              <a:solidFill>
                <a:srgbClr val="FFFFFF"/>
              </a:solidFill>
              <a:latin typeface="Noto Sans CJK SC" panose="020B0500000000000000" charset="-122"/>
              <a:ea typeface="宋体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999895" y="3428395"/>
            <a:ext cx="6624000" cy="975600"/>
          </a:xfrm>
          <a:prstGeom prst="rect">
            <a:avLst/>
          </a:prstGeom>
          <a:noFill/>
          <a:ln w="0">
            <a:noFill/>
          </a:ln>
        </p:spPr>
        <p:txBody>
          <a:bodyPr lIns="43200" tIns="28800" rIns="43200" bIns="28800" anchor="ctr">
            <a:noAutofit/>
          </a:bodyPr>
          <a:p>
            <a:pPr algn="ctr"/>
            <a:r>
              <a:rPr lang="en-US" altLang="zh-CN" sz="3200" b="1" strike="noStrike" spc="-1">
                <a:solidFill>
                  <a:srgbClr val="FFFFFF"/>
                </a:solidFill>
                <a:latin typeface="Noto Sans CJK SC" panose="020B0500000000000000" charset="-122"/>
              </a:rPr>
              <a:t>Thanks for listening</a:t>
            </a:r>
            <a:r>
              <a:rPr lang="zh-CN" altLang="en-US" sz="3200" b="1" strike="noStrike" spc="-1">
                <a:solidFill>
                  <a:srgbClr val="FFFFFF"/>
                </a:solidFill>
                <a:latin typeface="Noto Sans CJK SC" panose="020B0500000000000000" charset="-122"/>
                <a:ea typeface="宋体" charset="0"/>
              </a:rPr>
              <a:t>！</a:t>
            </a:r>
            <a:endParaRPr lang="zh-CN" altLang="en-US" sz="3200" b="1" strike="noStrike" spc="-1">
              <a:solidFill>
                <a:srgbClr val="FFFFFF"/>
              </a:solidFill>
              <a:latin typeface="Noto Sans CJK SC" panose="020B0500000000000000" charset="-122"/>
              <a:ea typeface="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4217</Words>
  <Application>WPS 演示</Application>
  <PresentationFormat/>
  <Paragraphs>633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Arial</vt:lpstr>
      <vt:lpstr>Nimbus Roman No9 L</vt:lpstr>
      <vt:lpstr>Symbol</vt:lpstr>
      <vt:lpstr>Times New Roman</vt:lpstr>
      <vt:lpstr>Noto Sans CJK SC</vt:lpstr>
      <vt:lpstr>Noto Sans Mono CJK SC</vt:lpstr>
      <vt:lpstr>宋体</vt:lpstr>
      <vt:lpstr>Droid Sans Fallback</vt:lpstr>
      <vt:lpstr>DejaVu Sans</vt:lpstr>
      <vt:lpstr>微软雅黑</vt:lpstr>
      <vt:lpstr>Arial Unicode MS</vt:lpstr>
      <vt:lpstr>OpenSymbol</vt:lpstr>
      <vt:lpstr>Gubbi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jlm</cp:lastModifiedBy>
  <cp:revision>41</cp:revision>
  <dcterms:created xsi:type="dcterms:W3CDTF">2026-09-23T12:43:23Z</dcterms:created>
  <dcterms:modified xsi:type="dcterms:W3CDTF">2026-09-23T12:43:23Z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9770179864EB2AB7F371B26AB6A7C58D_42</vt:lpwstr>
  </property>
  <property fmtid="{D5CDD505-2E9C-101B-9397-08002B2CF9AE}" pid="3" name="KSOProductBuildVer">
    <vt:lpwstr>2052-12.1.0.17900</vt:lpwstr>
  </property>
</Properties>
</file>